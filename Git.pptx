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Lst>
  <p:sldSz cy="5143500" cx="9144000"/>
  <p:notesSz cx="6858000" cy="9144000"/>
  <p:embeddedFontLst>
    <p:embeddedFont>
      <p:font typeface="Proxima Nova"/>
      <p:regular r:id="rId94"/>
      <p:bold r:id="rId95"/>
      <p:italic r:id="rId96"/>
      <p:boldItalic r:id="rId97"/>
    </p:embeddedFont>
    <p:embeddedFont>
      <p:font typeface="Alfa Slab One"/>
      <p:regular r:id="rId9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ProximaNova-bold.fntdata"/><Relationship Id="rId94" Type="http://schemas.openxmlformats.org/officeDocument/2006/relationships/font" Target="fonts/ProximaNova-regular.fntdata"/><Relationship Id="rId97" Type="http://schemas.openxmlformats.org/officeDocument/2006/relationships/font" Target="fonts/ProximaNova-boldItalic.fntdata"/><Relationship Id="rId96" Type="http://schemas.openxmlformats.org/officeDocument/2006/relationships/font" Target="fonts/ProximaNova-italic.fntdata"/><Relationship Id="rId11" Type="http://schemas.openxmlformats.org/officeDocument/2006/relationships/slide" Target="slides/slide6.xml"/><Relationship Id="rId10" Type="http://schemas.openxmlformats.org/officeDocument/2006/relationships/slide" Target="slides/slide5.xml"/><Relationship Id="rId98" Type="http://schemas.openxmlformats.org/officeDocument/2006/relationships/font" Target="fonts/AlfaSlabOne-regular.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mailto:anton.balaz@tuke.sk"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atlassian.com/git/tutorials/saving-changes/gitignore"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xamples.javacodegeeks.com/software-development/git/git-mergetool-example/" TargetMode="Externa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23326b8747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23326b8747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23326b8747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23326b874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23326b874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23326b874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23326b8747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23326b8747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23326b8747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23326b8747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23326b8747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23326b8747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23326b8747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23326b8747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23326b8747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23326b8747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23326b8747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23326b8747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23326b8747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23326b8747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23326b8747_27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23326b8747_27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23c2201e2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23c2201e2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23326b8747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23326b8747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23326b8747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23326b8747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23326b8747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23326b8747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23326b8747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23326b8747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23326b8747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23326b8747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a:t>git config </a:t>
            </a:r>
            <a:r>
              <a:rPr lang="sk"/>
              <a:t>--</a:t>
            </a:r>
            <a:r>
              <a:rPr lang="sk"/>
              <a:t>global user.name “anton”</a:t>
            </a:r>
            <a:endParaRPr/>
          </a:p>
          <a:p>
            <a:pPr indent="0" lvl="0" marL="0" rtl="0" algn="l">
              <a:spcBef>
                <a:spcPts val="0"/>
              </a:spcBef>
              <a:spcAft>
                <a:spcPts val="0"/>
              </a:spcAft>
              <a:buNone/>
            </a:pPr>
            <a:r>
              <a:rPr lang="sk"/>
              <a:t>git config </a:t>
            </a:r>
            <a:r>
              <a:rPr lang="sk"/>
              <a:t>--</a:t>
            </a:r>
            <a:r>
              <a:rPr lang="sk"/>
              <a:t>global user.email “</a:t>
            </a:r>
            <a:r>
              <a:rPr lang="sk" u="sng">
                <a:solidFill>
                  <a:schemeClr val="hlink"/>
                </a:solidFill>
                <a:hlinkClick r:id="rId2"/>
              </a:rPr>
              <a:t>anton.balaz@tuke.sk</a:t>
            </a:r>
            <a:r>
              <a:rPr lang="sk"/>
              <a:t>”</a:t>
            </a:r>
            <a:endParaRPr/>
          </a:p>
          <a:p>
            <a:pPr indent="0" lvl="0" marL="0" rtl="0" algn="l">
              <a:spcBef>
                <a:spcPts val="0"/>
              </a:spcBef>
              <a:spcAft>
                <a:spcPts val="0"/>
              </a:spcAft>
              <a:buNone/>
            </a:pPr>
            <a:r>
              <a:rPr lang="sk"/>
              <a:t>git config </a:t>
            </a:r>
            <a:r>
              <a:rPr lang="sk"/>
              <a:t>--</a:t>
            </a:r>
            <a:r>
              <a:rPr lang="sk"/>
              <a:t>list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23326b8747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23326b8747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a:t>demo</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23326b8747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23326b8747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sk"/>
              <a:t>2011  git init lab1</a:t>
            </a:r>
            <a:endParaRPr/>
          </a:p>
          <a:p>
            <a:pPr indent="0" lvl="0" marL="0" rtl="0" algn="l">
              <a:spcBef>
                <a:spcPts val="0"/>
              </a:spcBef>
              <a:spcAft>
                <a:spcPts val="0"/>
              </a:spcAft>
              <a:buClr>
                <a:schemeClr val="dk1"/>
              </a:buClr>
              <a:buSzPts val="1100"/>
              <a:buFont typeface="Arial"/>
              <a:buNone/>
            </a:pPr>
            <a:r>
              <a:rPr lang="sk"/>
              <a:t> 2012  ls -la</a:t>
            </a:r>
            <a:endParaRPr/>
          </a:p>
          <a:p>
            <a:pPr indent="0" lvl="0" marL="0" rtl="0" algn="l">
              <a:spcBef>
                <a:spcPts val="0"/>
              </a:spcBef>
              <a:spcAft>
                <a:spcPts val="0"/>
              </a:spcAft>
              <a:buClr>
                <a:schemeClr val="dk1"/>
              </a:buClr>
              <a:buSzPts val="1100"/>
              <a:buFont typeface="Arial"/>
              <a:buNone/>
            </a:pPr>
            <a:r>
              <a:rPr lang="sk"/>
              <a:t> 2013  cd lab1/</a:t>
            </a:r>
            <a:endParaRPr/>
          </a:p>
          <a:p>
            <a:pPr indent="0" lvl="0" marL="0" rtl="0" algn="l">
              <a:spcBef>
                <a:spcPts val="0"/>
              </a:spcBef>
              <a:spcAft>
                <a:spcPts val="0"/>
              </a:spcAft>
              <a:buClr>
                <a:schemeClr val="dk1"/>
              </a:buClr>
              <a:buSzPts val="1100"/>
              <a:buFont typeface="Arial"/>
              <a:buNone/>
            </a:pPr>
            <a:r>
              <a:rPr lang="sk"/>
              <a:t> 2014  ls</a:t>
            </a:r>
            <a:endParaRPr/>
          </a:p>
          <a:p>
            <a:pPr indent="0" lvl="0" marL="0" rtl="0" algn="l">
              <a:spcBef>
                <a:spcPts val="0"/>
              </a:spcBef>
              <a:spcAft>
                <a:spcPts val="0"/>
              </a:spcAft>
              <a:buClr>
                <a:schemeClr val="dk1"/>
              </a:buClr>
              <a:buSzPts val="1100"/>
              <a:buFont typeface="Arial"/>
              <a:buNone/>
            </a:pPr>
            <a:r>
              <a:rPr lang="sk"/>
              <a:t> 2015  ls -la</a:t>
            </a:r>
            <a:endParaRPr/>
          </a:p>
          <a:p>
            <a:pPr indent="0" lvl="0" marL="0" rtl="0" algn="l">
              <a:spcBef>
                <a:spcPts val="0"/>
              </a:spcBef>
              <a:spcAft>
                <a:spcPts val="0"/>
              </a:spcAft>
              <a:buClr>
                <a:schemeClr val="dk1"/>
              </a:buClr>
              <a:buSzPts val="1100"/>
              <a:buFont typeface="Arial"/>
              <a:buNone/>
            </a:pPr>
            <a:r>
              <a:rPr lang="sk"/>
              <a:t> 2016  echo "ahoj" &gt; f1</a:t>
            </a:r>
            <a:endParaRPr/>
          </a:p>
          <a:p>
            <a:pPr indent="0" lvl="0" marL="0" rtl="0" algn="l">
              <a:spcBef>
                <a:spcPts val="0"/>
              </a:spcBef>
              <a:spcAft>
                <a:spcPts val="0"/>
              </a:spcAft>
              <a:buClr>
                <a:schemeClr val="dk1"/>
              </a:buClr>
              <a:buSzPts val="1100"/>
              <a:buFont typeface="Arial"/>
              <a:buNone/>
            </a:pPr>
            <a:r>
              <a:rPr lang="sk"/>
              <a:t> 2017  echo "ahoj2" &gt; f2</a:t>
            </a:r>
            <a:endParaRPr/>
          </a:p>
          <a:p>
            <a:pPr indent="0" lvl="0" marL="0" rtl="0" algn="l">
              <a:spcBef>
                <a:spcPts val="0"/>
              </a:spcBef>
              <a:spcAft>
                <a:spcPts val="0"/>
              </a:spcAft>
              <a:buClr>
                <a:schemeClr val="dk1"/>
              </a:buClr>
              <a:buSzPts val="1100"/>
              <a:buFont typeface="Arial"/>
              <a:buNone/>
            </a:pPr>
            <a:r>
              <a:rPr lang="sk"/>
              <a:t> 2018  git status</a:t>
            </a:r>
            <a:endParaRPr/>
          </a:p>
          <a:p>
            <a:pPr indent="0" lvl="0" marL="0" rtl="0" algn="l">
              <a:spcBef>
                <a:spcPts val="0"/>
              </a:spcBef>
              <a:spcAft>
                <a:spcPts val="0"/>
              </a:spcAft>
              <a:buClr>
                <a:schemeClr val="dk1"/>
              </a:buClr>
              <a:buSzPts val="1100"/>
              <a:buFont typeface="Arial"/>
              <a:buNone/>
            </a:pPr>
            <a:r>
              <a:rPr lang="sk"/>
              <a:t> 2019  git add f1</a:t>
            </a:r>
            <a:endParaRPr/>
          </a:p>
          <a:p>
            <a:pPr indent="0" lvl="0" marL="0" rtl="0" algn="l">
              <a:spcBef>
                <a:spcPts val="0"/>
              </a:spcBef>
              <a:spcAft>
                <a:spcPts val="0"/>
              </a:spcAft>
              <a:buClr>
                <a:schemeClr val="dk1"/>
              </a:buClr>
              <a:buSzPts val="1100"/>
              <a:buFont typeface="Arial"/>
              <a:buNone/>
            </a:pPr>
            <a:r>
              <a:rPr lang="sk"/>
              <a:t> 2020  git status</a:t>
            </a:r>
            <a:endParaRPr/>
          </a:p>
          <a:p>
            <a:pPr indent="0" lvl="0" marL="0" rtl="0" algn="l">
              <a:spcBef>
                <a:spcPts val="0"/>
              </a:spcBef>
              <a:spcAft>
                <a:spcPts val="0"/>
              </a:spcAft>
              <a:buClr>
                <a:schemeClr val="dk1"/>
              </a:buClr>
              <a:buSzPts val="1100"/>
              <a:buFont typeface="Arial"/>
              <a:buNone/>
            </a:pPr>
            <a:r>
              <a:rPr lang="sk"/>
              <a:t> 2021  touch f3</a:t>
            </a:r>
            <a:endParaRPr/>
          </a:p>
          <a:p>
            <a:pPr indent="0" lvl="0" marL="0" rtl="0" algn="l">
              <a:spcBef>
                <a:spcPts val="0"/>
              </a:spcBef>
              <a:spcAft>
                <a:spcPts val="0"/>
              </a:spcAft>
              <a:buClr>
                <a:schemeClr val="dk1"/>
              </a:buClr>
              <a:buSzPts val="1100"/>
              <a:buFont typeface="Arial"/>
              <a:buNone/>
            </a:pPr>
            <a:r>
              <a:rPr lang="sk"/>
              <a:t> 2022  git status</a:t>
            </a:r>
            <a:endParaRPr/>
          </a:p>
          <a:p>
            <a:pPr indent="0" lvl="0" marL="0" rtl="0" algn="l">
              <a:spcBef>
                <a:spcPts val="0"/>
              </a:spcBef>
              <a:spcAft>
                <a:spcPts val="0"/>
              </a:spcAft>
              <a:buClr>
                <a:schemeClr val="dk1"/>
              </a:buClr>
              <a:buSzPts val="1100"/>
              <a:buFont typeface="Arial"/>
              <a:buNone/>
            </a:pPr>
            <a:r>
              <a:rPr lang="sk"/>
              <a:t> 2023  git add .</a:t>
            </a:r>
            <a:endParaRPr/>
          </a:p>
          <a:p>
            <a:pPr indent="0" lvl="0" marL="0" rtl="0" algn="l">
              <a:spcBef>
                <a:spcPts val="0"/>
              </a:spcBef>
              <a:spcAft>
                <a:spcPts val="0"/>
              </a:spcAft>
              <a:buClr>
                <a:schemeClr val="dk1"/>
              </a:buClr>
              <a:buSzPts val="1100"/>
              <a:buFont typeface="Arial"/>
              <a:buNone/>
            </a:pPr>
            <a:r>
              <a:rPr lang="sk"/>
              <a:t> 2024  git status</a:t>
            </a:r>
            <a:endParaRPr/>
          </a:p>
          <a:p>
            <a:pPr indent="0" lvl="0" marL="0" rtl="0" algn="l">
              <a:spcBef>
                <a:spcPts val="0"/>
              </a:spcBef>
              <a:spcAft>
                <a:spcPts val="0"/>
              </a:spcAft>
              <a:buClr>
                <a:schemeClr val="dk1"/>
              </a:buClr>
              <a:buSzPts val="1100"/>
              <a:buFont typeface="Arial"/>
              <a:buNone/>
            </a:pPr>
            <a:r>
              <a:rPr lang="sk"/>
              <a:t> 2025  git commit -m "pridane subory"</a:t>
            </a:r>
            <a:endParaRPr/>
          </a:p>
          <a:p>
            <a:pPr indent="0" lvl="0" marL="0" rtl="0" algn="l">
              <a:spcBef>
                <a:spcPts val="0"/>
              </a:spcBef>
              <a:spcAft>
                <a:spcPts val="0"/>
              </a:spcAft>
              <a:buNone/>
            </a:pPr>
            <a:r>
              <a:rPr lang="sk"/>
              <a:t> 2026  git status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23326b8747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23326b8747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23326b8747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23326b8747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23326b8747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23326b8747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sk"/>
              <a:t>2028  echo "zmena f1" &gt; f1</a:t>
            </a:r>
            <a:endParaRPr/>
          </a:p>
          <a:p>
            <a:pPr indent="0" lvl="0" marL="0" rtl="0" algn="l">
              <a:spcBef>
                <a:spcPts val="0"/>
              </a:spcBef>
              <a:spcAft>
                <a:spcPts val="0"/>
              </a:spcAft>
              <a:buClr>
                <a:schemeClr val="dk1"/>
              </a:buClr>
              <a:buSzPts val="1100"/>
              <a:buFont typeface="Arial"/>
              <a:buNone/>
            </a:pPr>
            <a:r>
              <a:rPr lang="sk"/>
              <a:t> 2029  git status</a:t>
            </a:r>
            <a:endParaRPr/>
          </a:p>
          <a:p>
            <a:pPr indent="0" lvl="0" marL="0" rtl="0" algn="l">
              <a:spcBef>
                <a:spcPts val="0"/>
              </a:spcBef>
              <a:spcAft>
                <a:spcPts val="0"/>
              </a:spcAft>
              <a:buClr>
                <a:schemeClr val="dk1"/>
              </a:buClr>
              <a:buSzPts val="1100"/>
              <a:buFont typeface="Arial"/>
              <a:buNone/>
            </a:pPr>
            <a:r>
              <a:rPr lang="sk"/>
              <a:t> 2030  git commit</a:t>
            </a:r>
            <a:endParaRPr/>
          </a:p>
          <a:p>
            <a:pPr indent="0" lvl="0" marL="0" rtl="0" algn="l">
              <a:spcBef>
                <a:spcPts val="0"/>
              </a:spcBef>
              <a:spcAft>
                <a:spcPts val="0"/>
              </a:spcAft>
              <a:buClr>
                <a:schemeClr val="dk1"/>
              </a:buClr>
              <a:buSzPts val="1100"/>
              <a:buFont typeface="Arial"/>
              <a:buNone/>
            </a:pPr>
            <a:r>
              <a:rPr lang="sk"/>
              <a:t> 2031  git add f1</a:t>
            </a:r>
            <a:endParaRPr/>
          </a:p>
          <a:p>
            <a:pPr indent="0" lvl="0" marL="0" rtl="0" algn="l">
              <a:spcBef>
                <a:spcPts val="0"/>
              </a:spcBef>
              <a:spcAft>
                <a:spcPts val="0"/>
              </a:spcAft>
              <a:buNone/>
            </a:pPr>
            <a:r>
              <a:rPr lang="sk"/>
              <a:t> 2032  git commit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23326b8747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23326b8747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sk"/>
              <a:t> 2040  touch f5</a:t>
            </a:r>
            <a:endParaRPr/>
          </a:p>
          <a:p>
            <a:pPr indent="0" lvl="0" marL="0" rtl="0" algn="l">
              <a:spcBef>
                <a:spcPts val="0"/>
              </a:spcBef>
              <a:spcAft>
                <a:spcPts val="0"/>
              </a:spcAft>
              <a:buClr>
                <a:schemeClr val="dk1"/>
              </a:buClr>
              <a:buSzPts val="1100"/>
              <a:buFont typeface="Arial"/>
              <a:buNone/>
            </a:pPr>
            <a:r>
              <a:rPr lang="sk"/>
              <a:t> 2041  git commit f5</a:t>
            </a:r>
            <a:endParaRPr/>
          </a:p>
          <a:p>
            <a:pPr indent="0" lvl="0" marL="0" rtl="0" algn="l">
              <a:spcBef>
                <a:spcPts val="0"/>
              </a:spcBef>
              <a:spcAft>
                <a:spcPts val="0"/>
              </a:spcAft>
              <a:buClr>
                <a:schemeClr val="dk1"/>
              </a:buClr>
              <a:buSzPts val="1100"/>
              <a:buFont typeface="Arial"/>
              <a:buNone/>
            </a:pPr>
            <a:r>
              <a:rPr lang="sk"/>
              <a:t> 2043  echo "dalsia zmena f1" &gt; f1</a:t>
            </a:r>
            <a:endParaRPr/>
          </a:p>
          <a:p>
            <a:pPr indent="0" lvl="0" marL="0" rtl="0" algn="l">
              <a:spcBef>
                <a:spcPts val="0"/>
              </a:spcBef>
              <a:spcAft>
                <a:spcPts val="0"/>
              </a:spcAft>
              <a:buNone/>
            </a:pPr>
            <a:r>
              <a:rPr lang="sk"/>
              <a:t> 2044  git commit f1</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23326b8747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23326b8747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sk"/>
              <a:t>2047  git log</a:t>
            </a:r>
            <a:endParaRPr/>
          </a:p>
          <a:p>
            <a:pPr indent="0" lvl="0" marL="0" rtl="0" algn="l">
              <a:spcBef>
                <a:spcPts val="0"/>
              </a:spcBef>
              <a:spcAft>
                <a:spcPts val="0"/>
              </a:spcAft>
              <a:buClr>
                <a:schemeClr val="dk1"/>
              </a:buClr>
              <a:buSzPts val="1100"/>
              <a:buFont typeface="Arial"/>
              <a:buNone/>
            </a:pPr>
            <a:r>
              <a:rPr lang="sk"/>
              <a:t> 2048  ls</a:t>
            </a:r>
            <a:endParaRPr/>
          </a:p>
          <a:p>
            <a:pPr indent="0" lvl="0" marL="0" rtl="0" algn="l">
              <a:spcBef>
                <a:spcPts val="0"/>
              </a:spcBef>
              <a:spcAft>
                <a:spcPts val="0"/>
              </a:spcAft>
              <a:buClr>
                <a:schemeClr val="dk1"/>
              </a:buClr>
              <a:buSzPts val="1100"/>
              <a:buFont typeface="Arial"/>
              <a:buNone/>
            </a:pPr>
            <a:r>
              <a:rPr lang="sk"/>
              <a:t> 2049  git rm f1</a:t>
            </a:r>
            <a:endParaRPr/>
          </a:p>
          <a:p>
            <a:pPr indent="0" lvl="0" marL="0" rtl="0" algn="l">
              <a:spcBef>
                <a:spcPts val="0"/>
              </a:spcBef>
              <a:spcAft>
                <a:spcPts val="0"/>
              </a:spcAft>
              <a:buClr>
                <a:schemeClr val="dk1"/>
              </a:buClr>
              <a:buSzPts val="1100"/>
              <a:buFont typeface="Arial"/>
              <a:buNone/>
            </a:pPr>
            <a:r>
              <a:rPr lang="sk"/>
              <a:t> 2050  git status</a:t>
            </a:r>
            <a:endParaRPr/>
          </a:p>
          <a:p>
            <a:pPr indent="0" lvl="0" marL="0" rtl="0" algn="l">
              <a:spcBef>
                <a:spcPts val="0"/>
              </a:spcBef>
              <a:spcAft>
                <a:spcPts val="0"/>
              </a:spcAft>
              <a:buClr>
                <a:schemeClr val="dk1"/>
              </a:buClr>
              <a:buSzPts val="1100"/>
              <a:buFont typeface="Arial"/>
              <a:buNone/>
            </a:pPr>
            <a:r>
              <a:rPr lang="sk"/>
              <a:t> 2051  git commit -m "zmazany f1"</a:t>
            </a:r>
            <a:endParaRPr/>
          </a:p>
          <a:p>
            <a:pPr indent="0" lvl="0" marL="0" rtl="0" algn="l">
              <a:spcBef>
                <a:spcPts val="0"/>
              </a:spcBef>
              <a:spcAft>
                <a:spcPts val="0"/>
              </a:spcAft>
              <a:buClr>
                <a:schemeClr val="dk1"/>
              </a:buClr>
              <a:buSzPts val="1100"/>
              <a:buFont typeface="Arial"/>
              <a:buNone/>
            </a:pPr>
            <a:r>
              <a:rPr lang="sk"/>
              <a:t> 2052  ls</a:t>
            </a:r>
            <a:endParaRPr/>
          </a:p>
          <a:p>
            <a:pPr indent="0" lvl="0" marL="0" rtl="0" algn="l">
              <a:spcBef>
                <a:spcPts val="0"/>
              </a:spcBef>
              <a:spcAft>
                <a:spcPts val="0"/>
              </a:spcAft>
              <a:buNone/>
            </a:pPr>
            <a:r>
              <a:rPr lang="sk"/>
              <a:t>—--------------------------------------------------</a:t>
            </a:r>
            <a:endParaRPr/>
          </a:p>
          <a:p>
            <a:pPr indent="0" lvl="0" marL="0" rtl="0" algn="l">
              <a:spcBef>
                <a:spcPts val="0"/>
              </a:spcBef>
              <a:spcAft>
                <a:spcPts val="0"/>
              </a:spcAft>
              <a:buNone/>
            </a:pPr>
            <a:r>
              <a:rPr lang="sk"/>
              <a:t>2055  git rm -h</a:t>
            </a:r>
            <a:endParaRPr/>
          </a:p>
          <a:p>
            <a:pPr indent="0" lvl="0" marL="0" rtl="0" algn="l">
              <a:spcBef>
                <a:spcPts val="0"/>
              </a:spcBef>
              <a:spcAft>
                <a:spcPts val="0"/>
              </a:spcAft>
              <a:buNone/>
            </a:pPr>
            <a:r>
              <a:rPr lang="sk"/>
              <a:t> 2056  git rm --cached f2</a:t>
            </a:r>
            <a:endParaRPr/>
          </a:p>
          <a:p>
            <a:pPr indent="0" lvl="0" marL="0" rtl="0" algn="l">
              <a:spcBef>
                <a:spcPts val="0"/>
              </a:spcBef>
              <a:spcAft>
                <a:spcPts val="0"/>
              </a:spcAft>
              <a:buNone/>
            </a:pPr>
            <a:r>
              <a:rPr lang="sk"/>
              <a:t> 2057  git status</a:t>
            </a:r>
            <a:endParaRPr/>
          </a:p>
          <a:p>
            <a:pPr indent="457200" lvl="0" marL="0" rtl="0" algn="l">
              <a:spcBef>
                <a:spcPts val="0"/>
              </a:spcBef>
              <a:spcAft>
                <a:spcPts val="0"/>
              </a:spcAft>
              <a:buNone/>
            </a:pPr>
            <a:r>
              <a:rPr lang="sk"/>
              <a:t>ls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23326b8747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23326b8747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23326b8747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23326b8747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23326b8747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23326b8747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a:t>cat f3</a:t>
            </a:r>
            <a:endParaRPr/>
          </a:p>
          <a:p>
            <a:pPr indent="0" lvl="0" marL="0" rtl="0" algn="l">
              <a:spcBef>
                <a:spcPts val="0"/>
              </a:spcBef>
              <a:spcAft>
                <a:spcPts val="0"/>
              </a:spcAft>
              <a:buClr>
                <a:schemeClr val="dk1"/>
              </a:buClr>
              <a:buSzPts val="1100"/>
              <a:buFont typeface="Arial"/>
              <a:buNone/>
            </a:pPr>
            <a:r>
              <a:rPr lang="sk"/>
              <a:t>2060  git diff</a:t>
            </a:r>
            <a:endParaRPr/>
          </a:p>
          <a:p>
            <a:pPr indent="0" lvl="0" marL="0" rtl="0" algn="l">
              <a:spcBef>
                <a:spcPts val="0"/>
              </a:spcBef>
              <a:spcAft>
                <a:spcPts val="0"/>
              </a:spcAft>
              <a:buClr>
                <a:schemeClr val="dk1"/>
              </a:buClr>
              <a:buSzPts val="1100"/>
              <a:buFont typeface="Arial"/>
              <a:buNone/>
            </a:pPr>
            <a:r>
              <a:rPr lang="sk"/>
              <a:t> 2061  echo "zmena f3" &gt; f3</a:t>
            </a:r>
            <a:endParaRPr/>
          </a:p>
          <a:p>
            <a:pPr indent="0" lvl="0" marL="0" rtl="0" algn="l">
              <a:spcBef>
                <a:spcPts val="0"/>
              </a:spcBef>
              <a:spcAft>
                <a:spcPts val="0"/>
              </a:spcAft>
              <a:buNone/>
            </a:pPr>
            <a:r>
              <a:rPr lang="sk"/>
              <a:t> 2062  git diff</a:t>
            </a:r>
            <a:endParaRPr/>
          </a:p>
          <a:p>
            <a:pPr indent="0" lvl="0" marL="0" rtl="0" algn="l">
              <a:spcBef>
                <a:spcPts val="0"/>
              </a:spcBef>
              <a:spcAft>
                <a:spcPts val="0"/>
              </a:spcAft>
              <a:buNone/>
            </a:pPr>
            <a:r>
              <a:rPr lang="sk"/>
              <a:t>—---------------------------</a:t>
            </a:r>
            <a:endParaRPr/>
          </a:p>
          <a:p>
            <a:pPr indent="0" lvl="0" marL="0" rtl="0" algn="l">
              <a:spcBef>
                <a:spcPts val="0"/>
              </a:spcBef>
              <a:spcAft>
                <a:spcPts val="0"/>
              </a:spcAft>
              <a:buClr>
                <a:schemeClr val="dk1"/>
              </a:buClr>
              <a:buSzPts val="1100"/>
              <a:buFont typeface="Arial"/>
              <a:buNone/>
            </a:pPr>
            <a:r>
              <a:rPr lang="sk"/>
              <a:t>2066  git status</a:t>
            </a:r>
            <a:endParaRPr/>
          </a:p>
          <a:p>
            <a:pPr indent="0" lvl="0" marL="0" rtl="0" algn="l">
              <a:spcBef>
                <a:spcPts val="0"/>
              </a:spcBef>
              <a:spcAft>
                <a:spcPts val="0"/>
              </a:spcAft>
              <a:buClr>
                <a:schemeClr val="dk1"/>
              </a:buClr>
              <a:buSzPts val="1100"/>
              <a:buFont typeface="Arial"/>
              <a:buNone/>
            </a:pPr>
            <a:r>
              <a:rPr lang="sk"/>
              <a:t> 2067  git add .</a:t>
            </a:r>
            <a:endParaRPr/>
          </a:p>
          <a:p>
            <a:pPr indent="0" lvl="0" marL="0" rtl="0" algn="l">
              <a:spcBef>
                <a:spcPts val="0"/>
              </a:spcBef>
              <a:spcAft>
                <a:spcPts val="0"/>
              </a:spcAft>
              <a:buClr>
                <a:schemeClr val="dk1"/>
              </a:buClr>
              <a:buSzPts val="1100"/>
              <a:buFont typeface="Arial"/>
              <a:buNone/>
            </a:pPr>
            <a:r>
              <a:rPr lang="sk"/>
              <a:t> 2068  git commit -m "update"</a:t>
            </a:r>
            <a:endParaRPr/>
          </a:p>
          <a:p>
            <a:pPr indent="0" lvl="0" marL="0" rtl="0" algn="l">
              <a:spcBef>
                <a:spcPts val="0"/>
              </a:spcBef>
              <a:spcAft>
                <a:spcPts val="0"/>
              </a:spcAft>
              <a:buClr>
                <a:schemeClr val="dk1"/>
              </a:buClr>
              <a:buSzPts val="1100"/>
              <a:buFont typeface="Arial"/>
              <a:buNone/>
            </a:pPr>
            <a:r>
              <a:rPr lang="sk"/>
              <a:t> 2069  cat f2</a:t>
            </a:r>
            <a:endParaRPr/>
          </a:p>
          <a:p>
            <a:pPr indent="0" lvl="0" marL="0" rtl="0" algn="l">
              <a:spcBef>
                <a:spcPts val="0"/>
              </a:spcBef>
              <a:spcAft>
                <a:spcPts val="0"/>
              </a:spcAft>
              <a:buClr>
                <a:schemeClr val="dk1"/>
              </a:buClr>
              <a:buSzPts val="1100"/>
              <a:buFont typeface="Arial"/>
              <a:buNone/>
            </a:pPr>
            <a:r>
              <a:rPr lang="sk"/>
              <a:t> 2070  echo "zmena f2"</a:t>
            </a:r>
            <a:endParaRPr/>
          </a:p>
          <a:p>
            <a:pPr indent="0" lvl="0" marL="0" rtl="0" algn="l">
              <a:spcBef>
                <a:spcPts val="0"/>
              </a:spcBef>
              <a:spcAft>
                <a:spcPts val="0"/>
              </a:spcAft>
              <a:buClr>
                <a:schemeClr val="dk1"/>
              </a:buClr>
              <a:buSzPts val="1100"/>
              <a:buFont typeface="Arial"/>
              <a:buNone/>
            </a:pPr>
            <a:r>
              <a:rPr lang="sk"/>
              <a:t> 2071  echo "zmena f2" &gt; f2</a:t>
            </a:r>
            <a:endParaRPr/>
          </a:p>
          <a:p>
            <a:pPr indent="0" lvl="0" marL="0" rtl="0" algn="l">
              <a:spcBef>
                <a:spcPts val="0"/>
              </a:spcBef>
              <a:spcAft>
                <a:spcPts val="0"/>
              </a:spcAft>
              <a:buClr>
                <a:schemeClr val="dk1"/>
              </a:buClr>
              <a:buSzPts val="1100"/>
              <a:buFont typeface="Arial"/>
              <a:buNone/>
            </a:pPr>
            <a:r>
              <a:rPr lang="sk"/>
              <a:t> 2072  git add f2</a:t>
            </a:r>
            <a:endParaRPr/>
          </a:p>
          <a:p>
            <a:pPr indent="0" lvl="0" marL="0" rtl="0" algn="l">
              <a:spcBef>
                <a:spcPts val="0"/>
              </a:spcBef>
              <a:spcAft>
                <a:spcPts val="0"/>
              </a:spcAft>
              <a:buNone/>
            </a:pPr>
            <a:r>
              <a:rPr lang="sk"/>
              <a:t> 2073  git diff --staged</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23326b8747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23326b8747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23326b8747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23326b8747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23326b8747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23326b8747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sk"/>
              <a:t>2193  git log --oneline</a:t>
            </a:r>
            <a:endParaRPr/>
          </a:p>
          <a:p>
            <a:pPr indent="0" lvl="0" marL="0" rtl="0" algn="l">
              <a:spcBef>
                <a:spcPts val="0"/>
              </a:spcBef>
              <a:spcAft>
                <a:spcPts val="0"/>
              </a:spcAft>
              <a:buClr>
                <a:schemeClr val="dk1"/>
              </a:buClr>
              <a:buSzPts val="1100"/>
              <a:buFont typeface="Arial"/>
              <a:buNone/>
            </a:pPr>
            <a:r>
              <a:rPr lang="sk"/>
              <a:t> 2194  echo "doplnene data" &gt;&gt; f1</a:t>
            </a:r>
            <a:endParaRPr/>
          </a:p>
          <a:p>
            <a:pPr indent="0" lvl="0" marL="0" rtl="0" algn="l">
              <a:spcBef>
                <a:spcPts val="0"/>
              </a:spcBef>
              <a:spcAft>
                <a:spcPts val="0"/>
              </a:spcAft>
              <a:buClr>
                <a:schemeClr val="dk1"/>
              </a:buClr>
              <a:buSzPts val="1100"/>
              <a:buFont typeface="Arial"/>
              <a:buNone/>
            </a:pPr>
            <a:r>
              <a:rPr lang="sk"/>
              <a:t> 2195  git add f1</a:t>
            </a:r>
            <a:endParaRPr/>
          </a:p>
          <a:p>
            <a:pPr indent="0" lvl="0" marL="0" rtl="0" algn="l">
              <a:spcBef>
                <a:spcPts val="0"/>
              </a:spcBef>
              <a:spcAft>
                <a:spcPts val="0"/>
              </a:spcAft>
              <a:buClr>
                <a:schemeClr val="dk1"/>
              </a:buClr>
              <a:buSzPts val="1100"/>
              <a:buFont typeface="Arial"/>
              <a:buNone/>
            </a:pPr>
            <a:r>
              <a:rPr lang="sk"/>
              <a:t> 2196  git commit -m "doplnene data"</a:t>
            </a:r>
            <a:endParaRPr/>
          </a:p>
          <a:p>
            <a:pPr indent="0" lvl="0" marL="0" rtl="0" algn="l">
              <a:spcBef>
                <a:spcPts val="0"/>
              </a:spcBef>
              <a:spcAft>
                <a:spcPts val="0"/>
              </a:spcAft>
              <a:buClr>
                <a:schemeClr val="dk1"/>
              </a:buClr>
              <a:buSzPts val="1100"/>
              <a:buFont typeface="Arial"/>
              <a:buNone/>
            </a:pPr>
            <a:r>
              <a:rPr lang="sk"/>
              <a:t> 2197  git status</a:t>
            </a:r>
            <a:endParaRPr/>
          </a:p>
          <a:p>
            <a:pPr indent="0" lvl="0" marL="0" rtl="0" algn="l">
              <a:spcBef>
                <a:spcPts val="0"/>
              </a:spcBef>
              <a:spcAft>
                <a:spcPts val="0"/>
              </a:spcAft>
              <a:buClr>
                <a:schemeClr val="dk1"/>
              </a:buClr>
              <a:buSzPts val="1100"/>
              <a:buFont typeface="Arial"/>
              <a:buNone/>
            </a:pPr>
            <a:r>
              <a:rPr lang="sk"/>
              <a:t> 2198  git log --oneline</a:t>
            </a:r>
            <a:endParaRPr/>
          </a:p>
          <a:p>
            <a:pPr indent="0" lvl="0" marL="0" rtl="0" algn="l">
              <a:spcBef>
                <a:spcPts val="0"/>
              </a:spcBef>
              <a:spcAft>
                <a:spcPts val="0"/>
              </a:spcAft>
              <a:buNone/>
            </a:pPr>
            <a:r>
              <a:rPr lang="sk"/>
              <a:t> 2199  git show 800464b</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23326b8747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23326b8747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u="sng">
                <a:solidFill>
                  <a:schemeClr val="hlink"/>
                </a:solidFill>
                <a:hlinkClick r:id="rId2"/>
              </a:rPr>
              <a:t>https://www.atlassian.com/git/tutorials/saving-changes/gitignore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sk"/>
              <a:t>git config --global core.excludesFile ~/.gitignore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sk"/>
              <a:t>2201  touch f1.zip</a:t>
            </a:r>
            <a:endParaRPr/>
          </a:p>
          <a:p>
            <a:pPr indent="0" lvl="0" marL="0" rtl="0" algn="l">
              <a:spcBef>
                <a:spcPts val="0"/>
              </a:spcBef>
              <a:spcAft>
                <a:spcPts val="0"/>
              </a:spcAft>
              <a:buClr>
                <a:schemeClr val="dk1"/>
              </a:buClr>
              <a:buSzPts val="1100"/>
              <a:buFont typeface="Arial"/>
              <a:buNone/>
            </a:pPr>
            <a:r>
              <a:rPr lang="sk"/>
              <a:t> 2202  git status</a:t>
            </a:r>
            <a:endParaRPr/>
          </a:p>
          <a:p>
            <a:pPr indent="0" lvl="0" marL="0" rtl="0" algn="l">
              <a:spcBef>
                <a:spcPts val="0"/>
              </a:spcBef>
              <a:spcAft>
                <a:spcPts val="0"/>
              </a:spcAft>
              <a:buClr>
                <a:schemeClr val="dk1"/>
              </a:buClr>
              <a:buSzPts val="1100"/>
              <a:buFont typeface="Arial"/>
              <a:buNone/>
            </a:pPr>
            <a:r>
              <a:rPr lang="sk"/>
              <a:t> 2203  vi .gitignore</a:t>
            </a:r>
            <a:endParaRPr/>
          </a:p>
          <a:p>
            <a:pPr indent="0" lvl="0" marL="0" rtl="0" algn="l">
              <a:spcBef>
                <a:spcPts val="0"/>
              </a:spcBef>
              <a:spcAft>
                <a:spcPts val="0"/>
              </a:spcAft>
              <a:buClr>
                <a:schemeClr val="dk1"/>
              </a:buClr>
              <a:buSzPts val="1100"/>
              <a:buFont typeface="Arial"/>
              <a:buNone/>
            </a:pPr>
            <a:r>
              <a:rPr lang="sk"/>
              <a:t> 2204  git status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23326b8747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23326b8747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23326b8747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23326b8747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25087d70e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25087d70e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23c2201e2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23c2201e2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sk"/>
              <a:t>2078  git diff HEAD</a:t>
            </a:r>
            <a:endParaRPr/>
          </a:p>
          <a:p>
            <a:pPr indent="0" lvl="0" marL="0" rtl="0" algn="l">
              <a:spcBef>
                <a:spcPts val="0"/>
              </a:spcBef>
              <a:spcAft>
                <a:spcPts val="0"/>
              </a:spcAft>
              <a:buClr>
                <a:schemeClr val="dk1"/>
              </a:buClr>
              <a:buSzPts val="1100"/>
              <a:buFont typeface="Arial"/>
              <a:buNone/>
            </a:pPr>
            <a:r>
              <a:rPr lang="sk"/>
              <a:t> 2079  ls</a:t>
            </a:r>
            <a:endParaRPr/>
          </a:p>
          <a:p>
            <a:pPr indent="0" lvl="0" marL="0" rtl="0" algn="l">
              <a:spcBef>
                <a:spcPts val="0"/>
              </a:spcBef>
              <a:spcAft>
                <a:spcPts val="0"/>
              </a:spcAft>
              <a:buClr>
                <a:schemeClr val="dk1"/>
              </a:buClr>
              <a:buSzPts val="1100"/>
              <a:buFont typeface="Arial"/>
              <a:buNone/>
            </a:pPr>
            <a:r>
              <a:rPr lang="sk"/>
              <a:t> 2080  git status</a:t>
            </a:r>
            <a:endParaRPr/>
          </a:p>
          <a:p>
            <a:pPr indent="0" lvl="0" marL="0" rtl="0" algn="l">
              <a:spcBef>
                <a:spcPts val="0"/>
              </a:spcBef>
              <a:spcAft>
                <a:spcPts val="0"/>
              </a:spcAft>
              <a:buClr>
                <a:schemeClr val="dk1"/>
              </a:buClr>
              <a:buSzPts val="1100"/>
              <a:buFont typeface="Arial"/>
              <a:buNone/>
            </a:pPr>
            <a:r>
              <a:rPr lang="sk"/>
              <a:t> 2081  git log f2</a:t>
            </a:r>
            <a:endParaRPr/>
          </a:p>
          <a:p>
            <a:pPr indent="0" lvl="0" marL="0" rtl="0" algn="l">
              <a:spcBef>
                <a:spcPts val="0"/>
              </a:spcBef>
              <a:spcAft>
                <a:spcPts val="0"/>
              </a:spcAft>
              <a:buClr>
                <a:schemeClr val="dk1"/>
              </a:buClr>
              <a:buSzPts val="1100"/>
              <a:buFont typeface="Arial"/>
              <a:buNone/>
            </a:pPr>
            <a:r>
              <a:rPr lang="sk"/>
              <a:t> 2083  git checkout -h</a:t>
            </a:r>
            <a:endParaRPr/>
          </a:p>
          <a:p>
            <a:pPr indent="0" lvl="0" marL="0" rtl="0" algn="l">
              <a:spcBef>
                <a:spcPts val="0"/>
              </a:spcBef>
              <a:spcAft>
                <a:spcPts val="0"/>
              </a:spcAft>
              <a:buClr>
                <a:schemeClr val="dk1"/>
              </a:buClr>
              <a:buSzPts val="1100"/>
              <a:buFont typeface="Arial"/>
              <a:buNone/>
            </a:pPr>
            <a:r>
              <a:rPr lang="sk"/>
              <a:t> 2084  git log f2</a:t>
            </a:r>
            <a:endParaRPr/>
          </a:p>
          <a:p>
            <a:pPr indent="0" lvl="0" marL="0" rtl="0" algn="l">
              <a:spcBef>
                <a:spcPts val="0"/>
              </a:spcBef>
              <a:spcAft>
                <a:spcPts val="0"/>
              </a:spcAft>
              <a:buClr>
                <a:schemeClr val="dk1"/>
              </a:buClr>
              <a:buSzPts val="1100"/>
              <a:buFont typeface="Arial"/>
              <a:buNone/>
            </a:pPr>
            <a:r>
              <a:rPr lang="sk"/>
              <a:t> 2085  git checkout d61b5f1aae35fbc7295fe5c86efe40d3b14f762b</a:t>
            </a:r>
            <a:endParaRPr/>
          </a:p>
          <a:p>
            <a:pPr indent="0" lvl="0" marL="0" rtl="0" algn="l">
              <a:spcBef>
                <a:spcPts val="0"/>
              </a:spcBef>
              <a:spcAft>
                <a:spcPts val="0"/>
              </a:spcAft>
              <a:buClr>
                <a:schemeClr val="dk1"/>
              </a:buClr>
              <a:buSzPts val="1100"/>
              <a:buFont typeface="Arial"/>
              <a:buNone/>
            </a:pPr>
            <a:r>
              <a:rPr lang="sk"/>
              <a:t> 2086  cat f2</a:t>
            </a:r>
            <a:endParaRPr/>
          </a:p>
          <a:p>
            <a:pPr indent="0" lvl="0" marL="0" rtl="0" algn="l">
              <a:spcBef>
                <a:spcPts val="0"/>
              </a:spcBef>
              <a:spcAft>
                <a:spcPts val="0"/>
              </a:spcAft>
              <a:buClr>
                <a:schemeClr val="dk1"/>
              </a:buClr>
              <a:buSzPts val="1100"/>
              <a:buFont typeface="Arial"/>
              <a:buNone/>
            </a:pPr>
            <a:r>
              <a:rPr lang="sk"/>
              <a:t> 2087  ls</a:t>
            </a:r>
            <a:endParaRPr/>
          </a:p>
          <a:p>
            <a:pPr indent="0" lvl="0" marL="0" rtl="0" algn="l">
              <a:spcBef>
                <a:spcPts val="0"/>
              </a:spcBef>
              <a:spcAft>
                <a:spcPts val="0"/>
              </a:spcAft>
              <a:buClr>
                <a:schemeClr val="dk1"/>
              </a:buClr>
              <a:buSzPts val="1100"/>
              <a:buFont typeface="Arial"/>
              <a:buNone/>
            </a:pPr>
            <a:r>
              <a:rPr lang="sk"/>
              <a:t> 2088  cat f1</a:t>
            </a:r>
            <a:endParaRPr/>
          </a:p>
          <a:p>
            <a:pPr indent="0" lvl="0" marL="0" rtl="0" algn="l">
              <a:spcBef>
                <a:spcPts val="0"/>
              </a:spcBef>
              <a:spcAft>
                <a:spcPts val="0"/>
              </a:spcAft>
              <a:buClr>
                <a:schemeClr val="dk1"/>
              </a:buClr>
              <a:buSzPts val="1100"/>
              <a:buFont typeface="Arial"/>
              <a:buNone/>
            </a:pPr>
            <a:r>
              <a:rPr lang="sk"/>
              <a:t> 2089  ls</a:t>
            </a:r>
            <a:endParaRPr/>
          </a:p>
          <a:p>
            <a:pPr indent="0" lvl="0" marL="0" rtl="0" algn="l">
              <a:spcBef>
                <a:spcPts val="0"/>
              </a:spcBef>
              <a:spcAft>
                <a:spcPts val="0"/>
              </a:spcAft>
              <a:buClr>
                <a:schemeClr val="dk1"/>
              </a:buClr>
              <a:buSzPts val="1100"/>
              <a:buFont typeface="Arial"/>
              <a:buNone/>
            </a:pPr>
            <a:r>
              <a:rPr lang="sk"/>
              <a:t> 2091  git checkout master</a:t>
            </a:r>
            <a:endParaRPr/>
          </a:p>
          <a:p>
            <a:pPr indent="0" lvl="0" marL="0" rtl="0" algn="l">
              <a:spcBef>
                <a:spcPts val="0"/>
              </a:spcBef>
              <a:spcAft>
                <a:spcPts val="0"/>
              </a:spcAft>
              <a:buClr>
                <a:schemeClr val="dk1"/>
              </a:buClr>
              <a:buSzPts val="1100"/>
              <a:buFont typeface="Arial"/>
              <a:buNone/>
            </a:pPr>
            <a:r>
              <a:rPr lang="sk"/>
              <a:t> 2092  ls</a:t>
            </a:r>
            <a:endParaRPr/>
          </a:p>
          <a:p>
            <a:pPr indent="0" lvl="0" marL="0" rtl="0" algn="l">
              <a:spcBef>
                <a:spcPts val="0"/>
              </a:spcBef>
              <a:spcAft>
                <a:spcPts val="0"/>
              </a:spcAft>
              <a:buNone/>
            </a:pPr>
            <a:r>
              <a:rPr lang="sk"/>
              <a:t> 2093  cat f2</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23326b8747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23326b8747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sk"/>
              <a:t>2095  ls</a:t>
            </a:r>
            <a:endParaRPr/>
          </a:p>
          <a:p>
            <a:pPr indent="0" lvl="0" marL="0" rtl="0" algn="l">
              <a:spcBef>
                <a:spcPts val="0"/>
              </a:spcBef>
              <a:spcAft>
                <a:spcPts val="0"/>
              </a:spcAft>
              <a:buClr>
                <a:schemeClr val="dk1"/>
              </a:buClr>
              <a:buSzPts val="1100"/>
              <a:buFont typeface="Arial"/>
              <a:buNone/>
            </a:pPr>
            <a:r>
              <a:rPr lang="sk"/>
              <a:t> 2096  cat f2</a:t>
            </a:r>
            <a:endParaRPr/>
          </a:p>
          <a:p>
            <a:pPr indent="0" lvl="0" marL="0" rtl="0" algn="l">
              <a:spcBef>
                <a:spcPts val="0"/>
              </a:spcBef>
              <a:spcAft>
                <a:spcPts val="0"/>
              </a:spcAft>
              <a:buClr>
                <a:schemeClr val="dk1"/>
              </a:buClr>
              <a:buSzPts val="1100"/>
              <a:buFont typeface="Arial"/>
              <a:buNone/>
            </a:pPr>
            <a:r>
              <a:rPr lang="sk"/>
              <a:t> 2097  echo "dalsia zmena f2" &gt; f2</a:t>
            </a:r>
            <a:endParaRPr/>
          </a:p>
          <a:p>
            <a:pPr indent="0" lvl="0" marL="0" rtl="0" algn="l">
              <a:spcBef>
                <a:spcPts val="0"/>
              </a:spcBef>
              <a:spcAft>
                <a:spcPts val="0"/>
              </a:spcAft>
              <a:buClr>
                <a:schemeClr val="dk1"/>
              </a:buClr>
              <a:buSzPts val="1100"/>
              <a:buFont typeface="Arial"/>
              <a:buNone/>
            </a:pPr>
            <a:r>
              <a:rPr lang="sk"/>
              <a:t> 2098  git diff HEAD</a:t>
            </a:r>
            <a:endParaRPr/>
          </a:p>
          <a:p>
            <a:pPr indent="0" lvl="0" marL="0" rtl="0" algn="l">
              <a:spcBef>
                <a:spcPts val="0"/>
              </a:spcBef>
              <a:spcAft>
                <a:spcPts val="0"/>
              </a:spcAft>
              <a:buClr>
                <a:schemeClr val="dk1"/>
              </a:buClr>
              <a:buSzPts val="1100"/>
              <a:buFont typeface="Arial"/>
              <a:buNone/>
            </a:pPr>
            <a:r>
              <a:rPr lang="sk"/>
              <a:t> 2099  git checkout -- f2</a:t>
            </a:r>
            <a:endParaRPr/>
          </a:p>
          <a:p>
            <a:pPr indent="0" lvl="0" marL="0" rtl="0" algn="l">
              <a:spcBef>
                <a:spcPts val="0"/>
              </a:spcBef>
              <a:spcAft>
                <a:spcPts val="0"/>
              </a:spcAft>
              <a:buNone/>
            </a:pPr>
            <a:r>
              <a:rPr lang="sk"/>
              <a:t> 2100  git diff HEAD</a:t>
            </a:r>
            <a:endParaRPr/>
          </a:p>
          <a:p>
            <a:pPr indent="0" lvl="0" marL="0" rtl="0" algn="l">
              <a:spcBef>
                <a:spcPts val="0"/>
              </a:spcBef>
              <a:spcAft>
                <a:spcPts val="0"/>
              </a:spcAft>
              <a:buNone/>
            </a:pPr>
            <a:r>
              <a:t/>
            </a:r>
            <a:endParaRPr/>
          </a:p>
          <a:p>
            <a:pPr indent="0" lvl="0" marL="0" rtl="0" algn="l">
              <a:spcBef>
                <a:spcPts val="0"/>
              </a:spcBef>
              <a:spcAft>
                <a:spcPts val="0"/>
              </a:spcAft>
              <a:buNone/>
            </a:pPr>
            <a:r>
              <a:rPr lang="sk"/>
              <a:t>—--</a:t>
            </a:r>
            <a:endParaRPr/>
          </a:p>
          <a:p>
            <a:pPr indent="0" lvl="0" marL="0" rtl="0" algn="l">
              <a:spcBef>
                <a:spcPts val="0"/>
              </a:spcBef>
              <a:spcAft>
                <a:spcPts val="0"/>
              </a:spcAft>
              <a:buNone/>
            </a:pPr>
            <a:r>
              <a:rPr lang="sk"/>
              <a:t>git checkout HEAD~1</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23c2201e2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23c2201e2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sk"/>
              <a:t>2144  git init lab2</a:t>
            </a:r>
            <a:endParaRPr/>
          </a:p>
          <a:p>
            <a:pPr indent="0" lvl="0" marL="0" rtl="0" algn="l">
              <a:spcBef>
                <a:spcPts val="0"/>
              </a:spcBef>
              <a:spcAft>
                <a:spcPts val="0"/>
              </a:spcAft>
              <a:buClr>
                <a:schemeClr val="dk1"/>
              </a:buClr>
              <a:buSzPts val="1100"/>
              <a:buFont typeface="Arial"/>
              <a:buNone/>
            </a:pPr>
            <a:r>
              <a:rPr lang="sk"/>
              <a:t> 2145  cd lab2</a:t>
            </a:r>
            <a:endParaRPr/>
          </a:p>
          <a:p>
            <a:pPr indent="0" lvl="0" marL="0" rtl="0" algn="l">
              <a:spcBef>
                <a:spcPts val="0"/>
              </a:spcBef>
              <a:spcAft>
                <a:spcPts val="0"/>
              </a:spcAft>
              <a:buClr>
                <a:schemeClr val="dk1"/>
              </a:buClr>
              <a:buSzPts val="1100"/>
              <a:buFont typeface="Arial"/>
              <a:buNone/>
            </a:pPr>
            <a:r>
              <a:rPr lang="sk"/>
              <a:t> 2146  ls</a:t>
            </a:r>
            <a:endParaRPr/>
          </a:p>
          <a:p>
            <a:pPr indent="0" lvl="0" marL="0" rtl="0" algn="l">
              <a:spcBef>
                <a:spcPts val="0"/>
              </a:spcBef>
              <a:spcAft>
                <a:spcPts val="0"/>
              </a:spcAft>
              <a:buClr>
                <a:schemeClr val="dk1"/>
              </a:buClr>
              <a:buSzPts val="1100"/>
              <a:buFont typeface="Arial"/>
              <a:buNone/>
            </a:pPr>
            <a:r>
              <a:rPr lang="sk"/>
              <a:t> 2147  touch f1</a:t>
            </a:r>
            <a:endParaRPr/>
          </a:p>
          <a:p>
            <a:pPr indent="0" lvl="0" marL="0" rtl="0" algn="l">
              <a:spcBef>
                <a:spcPts val="0"/>
              </a:spcBef>
              <a:spcAft>
                <a:spcPts val="0"/>
              </a:spcAft>
              <a:buClr>
                <a:schemeClr val="dk1"/>
              </a:buClr>
              <a:buSzPts val="1100"/>
              <a:buFont typeface="Arial"/>
              <a:buNone/>
            </a:pPr>
            <a:r>
              <a:rPr lang="sk"/>
              <a:t> 2148  git add .</a:t>
            </a:r>
            <a:endParaRPr/>
          </a:p>
          <a:p>
            <a:pPr indent="0" lvl="0" marL="0" rtl="0" algn="l">
              <a:spcBef>
                <a:spcPts val="0"/>
              </a:spcBef>
              <a:spcAft>
                <a:spcPts val="0"/>
              </a:spcAft>
              <a:buClr>
                <a:schemeClr val="dk1"/>
              </a:buClr>
              <a:buSzPts val="1100"/>
              <a:buFont typeface="Arial"/>
              <a:buNone/>
            </a:pPr>
            <a:r>
              <a:rPr lang="sk"/>
              <a:t> 2149  git commit -m "initial"</a:t>
            </a:r>
            <a:endParaRPr/>
          </a:p>
          <a:p>
            <a:pPr indent="0" lvl="0" marL="0" rtl="0" algn="l">
              <a:spcBef>
                <a:spcPts val="0"/>
              </a:spcBef>
              <a:spcAft>
                <a:spcPts val="0"/>
              </a:spcAft>
              <a:buClr>
                <a:schemeClr val="dk1"/>
              </a:buClr>
              <a:buSzPts val="1100"/>
              <a:buFont typeface="Arial"/>
              <a:buNone/>
            </a:pPr>
            <a:r>
              <a:rPr lang="sk"/>
              <a:t> 2150  echo "data" &gt; f1</a:t>
            </a:r>
            <a:endParaRPr/>
          </a:p>
          <a:p>
            <a:pPr indent="0" lvl="0" marL="0" rtl="0" algn="l">
              <a:spcBef>
                <a:spcPts val="0"/>
              </a:spcBef>
              <a:spcAft>
                <a:spcPts val="0"/>
              </a:spcAft>
              <a:buClr>
                <a:schemeClr val="dk1"/>
              </a:buClr>
              <a:buSzPts val="1100"/>
              <a:buFont typeface="Arial"/>
              <a:buNone/>
            </a:pPr>
            <a:r>
              <a:rPr lang="sk"/>
              <a:t> 2151  git add f1</a:t>
            </a:r>
            <a:endParaRPr/>
          </a:p>
          <a:p>
            <a:pPr indent="0" lvl="0" marL="0" rtl="0" algn="l">
              <a:spcBef>
                <a:spcPts val="0"/>
              </a:spcBef>
              <a:spcAft>
                <a:spcPts val="0"/>
              </a:spcAft>
              <a:buClr>
                <a:schemeClr val="dk1"/>
              </a:buClr>
              <a:buSzPts val="1100"/>
              <a:buFont typeface="Arial"/>
              <a:buNone/>
            </a:pPr>
            <a:r>
              <a:rPr lang="sk"/>
              <a:t> 2152  git commit -m "pridane data"</a:t>
            </a:r>
            <a:endParaRPr/>
          </a:p>
          <a:p>
            <a:pPr indent="0" lvl="0" marL="0" rtl="0" algn="l">
              <a:spcBef>
                <a:spcPts val="0"/>
              </a:spcBef>
              <a:spcAft>
                <a:spcPts val="0"/>
              </a:spcAft>
              <a:buClr>
                <a:schemeClr val="dk1"/>
              </a:buClr>
              <a:buSzPts val="1100"/>
              <a:buFont typeface="Arial"/>
              <a:buNone/>
            </a:pPr>
            <a:r>
              <a:rPr lang="sk"/>
              <a:t> 2153  echo "doplnene data" &gt;&gt; f1</a:t>
            </a:r>
            <a:endParaRPr/>
          </a:p>
          <a:p>
            <a:pPr indent="0" lvl="0" marL="0" rtl="0" algn="l">
              <a:spcBef>
                <a:spcPts val="0"/>
              </a:spcBef>
              <a:spcAft>
                <a:spcPts val="0"/>
              </a:spcAft>
              <a:buClr>
                <a:schemeClr val="dk1"/>
              </a:buClr>
              <a:buSzPts val="1100"/>
              <a:buFont typeface="Arial"/>
              <a:buNone/>
            </a:pPr>
            <a:r>
              <a:rPr lang="sk"/>
              <a:t> 2154  git add f1</a:t>
            </a:r>
            <a:endParaRPr/>
          </a:p>
          <a:p>
            <a:pPr indent="0" lvl="0" marL="0" rtl="0" algn="l">
              <a:spcBef>
                <a:spcPts val="0"/>
              </a:spcBef>
              <a:spcAft>
                <a:spcPts val="0"/>
              </a:spcAft>
              <a:buClr>
                <a:schemeClr val="dk1"/>
              </a:buClr>
              <a:buSzPts val="1100"/>
              <a:buFont typeface="Arial"/>
              <a:buNone/>
            </a:pPr>
            <a:r>
              <a:rPr lang="sk"/>
              <a:t> 2155  git commit -m "doplnene data"</a:t>
            </a:r>
            <a:endParaRPr/>
          </a:p>
          <a:p>
            <a:pPr indent="0" lvl="0" marL="0" rtl="0" algn="l">
              <a:spcBef>
                <a:spcPts val="0"/>
              </a:spcBef>
              <a:spcAft>
                <a:spcPts val="0"/>
              </a:spcAft>
              <a:buClr>
                <a:schemeClr val="dk1"/>
              </a:buClr>
              <a:buSzPts val="1100"/>
              <a:buFont typeface="Arial"/>
              <a:buNone/>
            </a:pPr>
            <a:r>
              <a:rPr lang="sk"/>
              <a:t> 2156  git log --oneline</a:t>
            </a:r>
            <a:endParaRPr/>
          </a:p>
          <a:p>
            <a:pPr indent="0" lvl="0" marL="0" rtl="0" algn="l">
              <a:spcBef>
                <a:spcPts val="0"/>
              </a:spcBef>
              <a:spcAft>
                <a:spcPts val="0"/>
              </a:spcAft>
              <a:buClr>
                <a:schemeClr val="dk1"/>
              </a:buClr>
              <a:buSzPts val="1100"/>
              <a:buFont typeface="Arial"/>
              <a:buNone/>
            </a:pPr>
            <a:r>
              <a:rPr lang="sk"/>
              <a:t> 2168  git revert HEAD</a:t>
            </a:r>
            <a:endParaRPr/>
          </a:p>
          <a:p>
            <a:pPr indent="0" lvl="0" marL="0" rtl="0" algn="l">
              <a:spcBef>
                <a:spcPts val="0"/>
              </a:spcBef>
              <a:spcAft>
                <a:spcPts val="0"/>
              </a:spcAft>
              <a:buClr>
                <a:schemeClr val="dk1"/>
              </a:buClr>
              <a:buSzPts val="1100"/>
              <a:buFont typeface="Arial"/>
              <a:buNone/>
            </a:pPr>
            <a:r>
              <a:rPr lang="sk"/>
              <a:t> 2169  cat f1</a:t>
            </a:r>
            <a:endParaRPr/>
          </a:p>
          <a:p>
            <a:pPr indent="0" lvl="0" marL="0" rtl="0" algn="l">
              <a:spcBef>
                <a:spcPts val="0"/>
              </a:spcBef>
              <a:spcAft>
                <a:spcPts val="0"/>
              </a:spcAft>
              <a:buClr>
                <a:schemeClr val="dk1"/>
              </a:buClr>
              <a:buSzPts val="1100"/>
              <a:buFont typeface="Arial"/>
              <a:buNone/>
            </a:pPr>
            <a:r>
              <a:rPr lang="sk"/>
              <a:t> 2172  gitk</a:t>
            </a:r>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23326b8747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23326b8747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a:t>git reflog vsetky commity</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252b440b5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252b440b5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9a983df0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9a983df0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sk"/>
              <a:t>2181  git status</a:t>
            </a:r>
            <a:endParaRPr/>
          </a:p>
          <a:p>
            <a:pPr indent="0" lvl="0" marL="0" rtl="0" algn="l">
              <a:spcBef>
                <a:spcPts val="0"/>
              </a:spcBef>
              <a:spcAft>
                <a:spcPts val="0"/>
              </a:spcAft>
              <a:buClr>
                <a:schemeClr val="dk1"/>
              </a:buClr>
              <a:buSzPts val="1100"/>
              <a:buFont typeface="Arial"/>
              <a:buNone/>
            </a:pPr>
            <a:r>
              <a:rPr lang="sk"/>
              <a:t> 2182  git log --oneline</a:t>
            </a:r>
            <a:endParaRPr/>
          </a:p>
          <a:p>
            <a:pPr indent="0" lvl="0" marL="0" rtl="0" algn="l">
              <a:spcBef>
                <a:spcPts val="0"/>
              </a:spcBef>
              <a:spcAft>
                <a:spcPts val="0"/>
              </a:spcAft>
              <a:buClr>
                <a:schemeClr val="dk1"/>
              </a:buClr>
              <a:buSzPts val="1100"/>
              <a:buFont typeface="Arial"/>
              <a:buNone/>
            </a:pPr>
            <a:r>
              <a:rPr lang="sk"/>
              <a:t> 2183  git reset ee65a30</a:t>
            </a:r>
            <a:endParaRPr/>
          </a:p>
          <a:p>
            <a:pPr indent="0" lvl="0" marL="0" rtl="0" algn="l">
              <a:spcBef>
                <a:spcPts val="0"/>
              </a:spcBef>
              <a:spcAft>
                <a:spcPts val="0"/>
              </a:spcAft>
              <a:buClr>
                <a:schemeClr val="dk1"/>
              </a:buClr>
              <a:buSzPts val="1100"/>
              <a:buFont typeface="Arial"/>
              <a:buNone/>
            </a:pPr>
            <a:r>
              <a:rPr lang="sk"/>
              <a:t> 2184  git status</a:t>
            </a:r>
            <a:endParaRPr/>
          </a:p>
          <a:p>
            <a:pPr indent="0" lvl="0" marL="0" rtl="0" algn="l">
              <a:spcBef>
                <a:spcPts val="0"/>
              </a:spcBef>
              <a:spcAft>
                <a:spcPts val="0"/>
              </a:spcAft>
              <a:buClr>
                <a:schemeClr val="dk1"/>
              </a:buClr>
              <a:buSzPts val="1100"/>
              <a:buFont typeface="Arial"/>
              <a:buNone/>
            </a:pPr>
            <a:r>
              <a:rPr lang="sk"/>
              <a:t> 2185  cat f1</a:t>
            </a:r>
            <a:endParaRPr/>
          </a:p>
          <a:p>
            <a:pPr indent="0" lvl="0" marL="0" rtl="0" algn="l">
              <a:spcBef>
                <a:spcPts val="0"/>
              </a:spcBef>
              <a:spcAft>
                <a:spcPts val="0"/>
              </a:spcAft>
              <a:buClr>
                <a:schemeClr val="dk1"/>
              </a:buClr>
              <a:buSzPts val="1100"/>
              <a:buFont typeface="Arial"/>
              <a:buNone/>
            </a:pPr>
            <a:r>
              <a:rPr lang="sk"/>
              <a:t> 2187  git commit -m "asd" f1</a:t>
            </a:r>
            <a:endParaRPr/>
          </a:p>
          <a:p>
            <a:pPr indent="0" lvl="0" marL="0" rtl="0" algn="l">
              <a:spcBef>
                <a:spcPts val="0"/>
              </a:spcBef>
              <a:spcAft>
                <a:spcPts val="0"/>
              </a:spcAft>
              <a:buClr>
                <a:schemeClr val="dk1"/>
              </a:buClr>
              <a:buSzPts val="1100"/>
              <a:buFont typeface="Arial"/>
              <a:buNone/>
            </a:pPr>
            <a:r>
              <a:rPr lang="sk"/>
              <a:t> 2188  cat f1</a:t>
            </a:r>
            <a:endParaRPr/>
          </a:p>
          <a:p>
            <a:pPr indent="0" lvl="0" marL="0" rtl="0" algn="l">
              <a:spcBef>
                <a:spcPts val="0"/>
              </a:spcBef>
              <a:spcAft>
                <a:spcPts val="0"/>
              </a:spcAft>
              <a:buNone/>
            </a:pPr>
            <a:r>
              <a:rPr lang="sk"/>
              <a:t> 2189  git log --oneline</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24edc155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24edc155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24edc155e3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24edc155e3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24edc155e3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24edc155e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9a983df03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9a983df03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23326b8747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23326b8747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23326b8747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23326b8747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23326b8747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23326b8747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a:t>gitkraken</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23326b8747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23326b8747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23326b8747_2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23326b8747_2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sk"/>
              <a:t>2212  git checkout -b develop</a:t>
            </a:r>
            <a:endParaRPr/>
          </a:p>
          <a:p>
            <a:pPr indent="0" lvl="0" marL="0" rtl="0" algn="l">
              <a:spcBef>
                <a:spcPts val="0"/>
              </a:spcBef>
              <a:spcAft>
                <a:spcPts val="0"/>
              </a:spcAft>
              <a:buClr>
                <a:schemeClr val="dk1"/>
              </a:buClr>
              <a:buSzPts val="1100"/>
              <a:buFont typeface="Arial"/>
              <a:buNone/>
            </a:pPr>
            <a:r>
              <a:rPr lang="sk"/>
              <a:t> 2213  git status</a:t>
            </a:r>
            <a:endParaRPr/>
          </a:p>
          <a:p>
            <a:pPr indent="0" lvl="0" marL="0" rtl="0" algn="l">
              <a:spcBef>
                <a:spcPts val="0"/>
              </a:spcBef>
              <a:spcAft>
                <a:spcPts val="0"/>
              </a:spcAft>
              <a:buClr>
                <a:schemeClr val="dk1"/>
              </a:buClr>
              <a:buSzPts val="1100"/>
              <a:buFont typeface="Arial"/>
              <a:buNone/>
            </a:pPr>
            <a:r>
              <a:rPr lang="sk"/>
              <a:t> 2214  gitk</a:t>
            </a:r>
            <a:endParaRPr/>
          </a:p>
          <a:p>
            <a:pPr indent="0" lvl="0" marL="0" rtl="0" algn="l">
              <a:spcBef>
                <a:spcPts val="0"/>
              </a:spcBef>
              <a:spcAft>
                <a:spcPts val="0"/>
              </a:spcAft>
              <a:buClr>
                <a:schemeClr val="dk1"/>
              </a:buClr>
              <a:buSzPts val="1100"/>
              <a:buFont typeface="Arial"/>
              <a:buNone/>
            </a:pPr>
            <a:r>
              <a:rPr lang="sk"/>
              <a:t> 2215  git checkout master</a:t>
            </a:r>
            <a:endParaRPr/>
          </a:p>
          <a:p>
            <a:pPr indent="0" lvl="0" marL="0" rtl="0" algn="l">
              <a:spcBef>
                <a:spcPts val="0"/>
              </a:spcBef>
              <a:spcAft>
                <a:spcPts val="0"/>
              </a:spcAft>
              <a:buClr>
                <a:schemeClr val="dk1"/>
              </a:buClr>
              <a:buSzPts val="1100"/>
              <a:buFont typeface="Arial"/>
              <a:buNone/>
            </a:pPr>
            <a:r>
              <a:rPr lang="sk"/>
              <a:t> 2216  git checkout develop</a:t>
            </a:r>
            <a:endParaRPr/>
          </a:p>
          <a:p>
            <a:pPr indent="0" lvl="0" marL="0" rtl="0" algn="l">
              <a:spcBef>
                <a:spcPts val="0"/>
              </a:spcBef>
              <a:spcAft>
                <a:spcPts val="0"/>
              </a:spcAft>
              <a:buClr>
                <a:schemeClr val="dk1"/>
              </a:buClr>
              <a:buSzPts val="1100"/>
              <a:buFont typeface="Arial"/>
              <a:buNone/>
            </a:pPr>
            <a:r>
              <a:rPr lang="sk"/>
              <a:t> 2218  echo "vyvoj novej vlastnosti" &gt;&gt; f1</a:t>
            </a:r>
            <a:endParaRPr/>
          </a:p>
          <a:p>
            <a:pPr indent="0" lvl="0" marL="0" rtl="0" algn="l">
              <a:spcBef>
                <a:spcPts val="0"/>
              </a:spcBef>
              <a:spcAft>
                <a:spcPts val="0"/>
              </a:spcAft>
              <a:buClr>
                <a:schemeClr val="dk1"/>
              </a:buClr>
              <a:buSzPts val="1100"/>
              <a:buFont typeface="Arial"/>
              <a:buNone/>
            </a:pPr>
            <a:r>
              <a:rPr lang="sk"/>
              <a:t> 2219  git status</a:t>
            </a:r>
            <a:endParaRPr/>
          </a:p>
          <a:p>
            <a:pPr indent="0" lvl="0" marL="0" rtl="0" algn="l">
              <a:spcBef>
                <a:spcPts val="0"/>
              </a:spcBef>
              <a:spcAft>
                <a:spcPts val="0"/>
              </a:spcAft>
              <a:buClr>
                <a:schemeClr val="dk1"/>
              </a:buClr>
              <a:buSzPts val="1100"/>
              <a:buFont typeface="Arial"/>
              <a:buNone/>
            </a:pPr>
            <a:r>
              <a:rPr lang="sk"/>
              <a:t> 2221  git commit -m "nova funkcia" f1</a:t>
            </a:r>
            <a:endParaRPr/>
          </a:p>
          <a:p>
            <a:pPr indent="0" lvl="0" marL="0" rtl="0" algn="l">
              <a:spcBef>
                <a:spcPts val="0"/>
              </a:spcBef>
              <a:spcAft>
                <a:spcPts val="0"/>
              </a:spcAft>
              <a:buClr>
                <a:schemeClr val="dk1"/>
              </a:buClr>
              <a:buSzPts val="1100"/>
              <a:buFont typeface="Arial"/>
              <a:buNone/>
            </a:pPr>
            <a:r>
              <a:rPr lang="sk"/>
              <a:t> 2222  git status</a:t>
            </a:r>
            <a:endParaRPr/>
          </a:p>
          <a:p>
            <a:pPr indent="0" lvl="0" marL="0" rtl="0" algn="l">
              <a:spcBef>
                <a:spcPts val="0"/>
              </a:spcBef>
              <a:spcAft>
                <a:spcPts val="0"/>
              </a:spcAft>
              <a:buClr>
                <a:schemeClr val="dk1"/>
              </a:buClr>
              <a:buSzPts val="1100"/>
              <a:buFont typeface="Arial"/>
              <a:buNone/>
            </a:pPr>
            <a:r>
              <a:rPr lang="sk"/>
              <a:t> 2223  git switch master</a:t>
            </a:r>
            <a:endParaRPr/>
          </a:p>
          <a:p>
            <a:pPr indent="0" lvl="0" marL="0" rtl="0" algn="l">
              <a:spcBef>
                <a:spcPts val="0"/>
              </a:spcBef>
              <a:spcAft>
                <a:spcPts val="0"/>
              </a:spcAft>
              <a:buNone/>
            </a:pPr>
            <a:r>
              <a:rPr lang="sk"/>
              <a:t> 2225  git merge develop</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23326b8747_27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23326b8747_27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a:t>git log --graph --oneline --all</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23326b8747_27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23326b8747_27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23326b8747_27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23326b8747_27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23326b8747_27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23326b8747_27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23326b8747_27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23326b8747_27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23326b8747_27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23326b8747_27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a:t>mergetool</a:t>
            </a:r>
            <a:endParaRPr/>
          </a:p>
          <a:p>
            <a:pPr indent="0" lvl="0" marL="0" rtl="0" algn="l">
              <a:spcBef>
                <a:spcPts val="0"/>
              </a:spcBef>
              <a:spcAft>
                <a:spcPts val="0"/>
              </a:spcAft>
              <a:buNone/>
            </a:pPr>
            <a:r>
              <a:rPr lang="sk" u="sng">
                <a:solidFill>
                  <a:schemeClr val="hlink"/>
                </a:solidFill>
                <a:hlinkClick r:id="rId2"/>
              </a:rPr>
              <a:t>https://examples.javacodegeeks.com/software-development/git/git-mergetool-example/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sk"/>
              <a:t>2247  git status</a:t>
            </a:r>
            <a:endParaRPr/>
          </a:p>
          <a:p>
            <a:pPr indent="0" lvl="0" marL="0" rtl="0" algn="l">
              <a:spcBef>
                <a:spcPts val="0"/>
              </a:spcBef>
              <a:spcAft>
                <a:spcPts val="0"/>
              </a:spcAft>
              <a:buClr>
                <a:schemeClr val="dk1"/>
              </a:buClr>
              <a:buSzPts val="1100"/>
              <a:buFont typeface="Arial"/>
              <a:buNone/>
            </a:pPr>
            <a:r>
              <a:rPr lang="sk"/>
              <a:t> 2248  echo master &gt;&gt; f1</a:t>
            </a:r>
            <a:endParaRPr/>
          </a:p>
          <a:p>
            <a:pPr indent="0" lvl="0" marL="0" rtl="0" algn="l">
              <a:spcBef>
                <a:spcPts val="0"/>
              </a:spcBef>
              <a:spcAft>
                <a:spcPts val="0"/>
              </a:spcAft>
              <a:buClr>
                <a:schemeClr val="dk1"/>
              </a:buClr>
              <a:buSzPts val="1100"/>
              <a:buFont typeface="Arial"/>
              <a:buNone/>
            </a:pPr>
            <a:r>
              <a:rPr lang="sk"/>
              <a:t> 2249  git checkout develop</a:t>
            </a:r>
            <a:endParaRPr/>
          </a:p>
          <a:p>
            <a:pPr indent="0" lvl="0" marL="0" rtl="0" algn="l">
              <a:spcBef>
                <a:spcPts val="0"/>
              </a:spcBef>
              <a:spcAft>
                <a:spcPts val="0"/>
              </a:spcAft>
              <a:buClr>
                <a:schemeClr val="dk1"/>
              </a:buClr>
              <a:buSzPts val="1100"/>
              <a:buFont typeface="Arial"/>
              <a:buNone/>
            </a:pPr>
            <a:r>
              <a:rPr lang="sk"/>
              <a:t> 2250  git status</a:t>
            </a:r>
            <a:endParaRPr/>
          </a:p>
          <a:p>
            <a:pPr indent="0" lvl="0" marL="0" rtl="0" algn="l">
              <a:spcBef>
                <a:spcPts val="0"/>
              </a:spcBef>
              <a:spcAft>
                <a:spcPts val="0"/>
              </a:spcAft>
              <a:buClr>
                <a:schemeClr val="dk1"/>
              </a:buClr>
              <a:buSzPts val="1100"/>
              <a:buFont typeface="Arial"/>
              <a:buNone/>
            </a:pPr>
            <a:r>
              <a:rPr lang="sk"/>
              <a:t> 2251  git commit -m master f1</a:t>
            </a:r>
            <a:endParaRPr/>
          </a:p>
          <a:p>
            <a:pPr indent="0" lvl="0" marL="0" rtl="0" algn="l">
              <a:spcBef>
                <a:spcPts val="0"/>
              </a:spcBef>
              <a:spcAft>
                <a:spcPts val="0"/>
              </a:spcAft>
              <a:buClr>
                <a:schemeClr val="dk1"/>
              </a:buClr>
              <a:buSzPts val="1100"/>
              <a:buFont typeface="Arial"/>
              <a:buNone/>
            </a:pPr>
            <a:r>
              <a:rPr lang="sk"/>
              <a:t> 2252  git checkout develop</a:t>
            </a:r>
            <a:endParaRPr/>
          </a:p>
          <a:p>
            <a:pPr indent="0" lvl="0" marL="0" rtl="0" algn="l">
              <a:spcBef>
                <a:spcPts val="0"/>
              </a:spcBef>
              <a:spcAft>
                <a:spcPts val="0"/>
              </a:spcAft>
              <a:buClr>
                <a:schemeClr val="dk1"/>
              </a:buClr>
              <a:buSzPts val="1100"/>
              <a:buFont typeface="Arial"/>
              <a:buNone/>
            </a:pPr>
            <a:r>
              <a:rPr lang="sk"/>
              <a:t> 2253  echo develop &gt;&gt; f1</a:t>
            </a:r>
            <a:endParaRPr/>
          </a:p>
          <a:p>
            <a:pPr indent="0" lvl="0" marL="0" rtl="0" algn="l">
              <a:spcBef>
                <a:spcPts val="0"/>
              </a:spcBef>
              <a:spcAft>
                <a:spcPts val="0"/>
              </a:spcAft>
              <a:buClr>
                <a:schemeClr val="dk1"/>
              </a:buClr>
              <a:buSzPts val="1100"/>
              <a:buFont typeface="Arial"/>
              <a:buNone/>
            </a:pPr>
            <a:r>
              <a:rPr lang="sk"/>
              <a:t> 2254  git commit -m develop f1</a:t>
            </a:r>
            <a:endParaRPr/>
          </a:p>
          <a:p>
            <a:pPr indent="0" lvl="0" marL="0" rtl="0" algn="l">
              <a:spcBef>
                <a:spcPts val="0"/>
              </a:spcBef>
              <a:spcAft>
                <a:spcPts val="0"/>
              </a:spcAft>
              <a:buClr>
                <a:schemeClr val="dk1"/>
              </a:buClr>
              <a:buSzPts val="1100"/>
              <a:buFont typeface="Arial"/>
              <a:buNone/>
            </a:pPr>
            <a:r>
              <a:rPr lang="sk"/>
              <a:t> 2255  git switch master</a:t>
            </a:r>
            <a:endParaRPr/>
          </a:p>
          <a:p>
            <a:pPr indent="0" lvl="0" marL="0" rtl="0" algn="l">
              <a:spcBef>
                <a:spcPts val="0"/>
              </a:spcBef>
              <a:spcAft>
                <a:spcPts val="0"/>
              </a:spcAft>
              <a:buClr>
                <a:schemeClr val="dk1"/>
              </a:buClr>
              <a:buSzPts val="1100"/>
              <a:buFont typeface="Arial"/>
              <a:buNone/>
            </a:pPr>
            <a:r>
              <a:rPr lang="sk"/>
              <a:t> 2256  git mergetool</a:t>
            </a:r>
            <a:endParaRPr/>
          </a:p>
          <a:p>
            <a:pPr indent="0" lvl="0" marL="0" rtl="0" algn="l">
              <a:spcBef>
                <a:spcPts val="0"/>
              </a:spcBef>
              <a:spcAft>
                <a:spcPts val="0"/>
              </a:spcAft>
              <a:buClr>
                <a:schemeClr val="dk1"/>
              </a:buClr>
              <a:buSzPts val="1100"/>
              <a:buFont typeface="Arial"/>
              <a:buNone/>
            </a:pPr>
            <a:r>
              <a:rPr lang="sk"/>
              <a:t> 2261  git config --global merge.tool vimdiff</a:t>
            </a:r>
            <a:endParaRPr/>
          </a:p>
          <a:p>
            <a:pPr indent="0" lvl="0" marL="0" rtl="0" algn="l">
              <a:spcBef>
                <a:spcPts val="0"/>
              </a:spcBef>
              <a:spcAft>
                <a:spcPts val="0"/>
              </a:spcAft>
              <a:buClr>
                <a:schemeClr val="dk1"/>
              </a:buClr>
              <a:buSzPts val="1100"/>
              <a:buFont typeface="Arial"/>
              <a:buNone/>
            </a:pPr>
            <a:r>
              <a:rPr lang="sk"/>
              <a:t> 2262  git status</a:t>
            </a:r>
            <a:endParaRPr/>
          </a:p>
          <a:p>
            <a:pPr indent="0" lvl="0" marL="0" rtl="0" algn="l">
              <a:spcBef>
                <a:spcPts val="0"/>
              </a:spcBef>
              <a:spcAft>
                <a:spcPts val="0"/>
              </a:spcAft>
              <a:buClr>
                <a:schemeClr val="dk1"/>
              </a:buClr>
              <a:buSzPts val="1100"/>
              <a:buFont typeface="Arial"/>
              <a:buNone/>
            </a:pPr>
            <a:r>
              <a:rPr lang="sk"/>
              <a:t> 2263  git merge develop</a:t>
            </a:r>
            <a:endParaRPr/>
          </a:p>
          <a:p>
            <a:pPr indent="0" lvl="0" marL="0" rtl="0" algn="l">
              <a:spcBef>
                <a:spcPts val="0"/>
              </a:spcBef>
              <a:spcAft>
                <a:spcPts val="0"/>
              </a:spcAft>
              <a:buClr>
                <a:schemeClr val="dk1"/>
              </a:buClr>
              <a:buSzPts val="1100"/>
              <a:buFont typeface="Arial"/>
              <a:buNone/>
            </a:pPr>
            <a:r>
              <a:rPr lang="sk"/>
              <a:t> 2264  git mergetool</a:t>
            </a:r>
            <a:endParaRPr/>
          </a:p>
          <a:p>
            <a:pPr indent="0" lvl="0" marL="0" rtl="0" algn="l">
              <a:spcBef>
                <a:spcPts val="0"/>
              </a:spcBef>
              <a:spcAft>
                <a:spcPts val="0"/>
              </a:spcAft>
              <a:buClr>
                <a:schemeClr val="dk1"/>
              </a:buClr>
              <a:buSzPts val="1100"/>
              <a:buFont typeface="Arial"/>
              <a:buNone/>
            </a:pPr>
            <a:r>
              <a:rPr lang="sk"/>
              <a:t> 2265  git status</a:t>
            </a:r>
            <a:endParaRPr/>
          </a:p>
          <a:p>
            <a:pPr indent="0" lvl="0" marL="0" rtl="0" algn="l">
              <a:spcBef>
                <a:spcPts val="0"/>
              </a:spcBef>
              <a:spcAft>
                <a:spcPts val="0"/>
              </a:spcAft>
              <a:buClr>
                <a:schemeClr val="dk1"/>
              </a:buClr>
              <a:buSzPts val="1100"/>
              <a:buFont typeface="Arial"/>
              <a:buNone/>
            </a:pPr>
            <a:r>
              <a:rPr lang="sk"/>
              <a:t> 2266  rm f1.orig</a:t>
            </a:r>
            <a:endParaRPr/>
          </a:p>
          <a:p>
            <a:pPr indent="0" lvl="0" marL="0" rtl="0" algn="l">
              <a:spcBef>
                <a:spcPts val="0"/>
              </a:spcBef>
              <a:spcAft>
                <a:spcPts val="0"/>
              </a:spcAft>
              <a:buClr>
                <a:schemeClr val="dk1"/>
              </a:buClr>
              <a:buSzPts val="1100"/>
              <a:buFont typeface="Arial"/>
              <a:buNone/>
            </a:pPr>
            <a:r>
              <a:rPr lang="sk"/>
              <a:t> 2267  git status</a:t>
            </a:r>
            <a:endParaRPr/>
          </a:p>
          <a:p>
            <a:pPr indent="0" lvl="0" marL="0" rtl="0" algn="l">
              <a:spcBef>
                <a:spcPts val="0"/>
              </a:spcBef>
              <a:spcAft>
                <a:spcPts val="0"/>
              </a:spcAft>
              <a:buClr>
                <a:schemeClr val="dk1"/>
              </a:buClr>
              <a:buSzPts val="1100"/>
              <a:buFont typeface="Arial"/>
              <a:buNone/>
            </a:pPr>
            <a:r>
              <a:rPr lang="sk"/>
              <a:t> 2268  cat f1</a:t>
            </a:r>
            <a:endParaRPr/>
          </a:p>
          <a:p>
            <a:pPr indent="0" lvl="0" marL="0" rtl="0" algn="l">
              <a:spcBef>
                <a:spcPts val="0"/>
              </a:spcBef>
              <a:spcAft>
                <a:spcPts val="0"/>
              </a:spcAft>
              <a:buClr>
                <a:schemeClr val="dk1"/>
              </a:buClr>
              <a:buSzPts val="1100"/>
              <a:buFont typeface="Arial"/>
              <a:buNone/>
            </a:pPr>
            <a:r>
              <a:rPr lang="sk"/>
              <a:t> 2270  git commit</a:t>
            </a:r>
            <a:endParaRPr/>
          </a:p>
          <a:p>
            <a:pPr indent="0" lvl="0" marL="0" rtl="0" algn="l">
              <a:spcBef>
                <a:spcPts val="0"/>
              </a:spcBef>
              <a:spcAft>
                <a:spcPts val="0"/>
              </a:spcAft>
              <a:buClr>
                <a:schemeClr val="dk1"/>
              </a:buClr>
              <a:buSzPts val="1100"/>
              <a:buFont typeface="Arial"/>
              <a:buNone/>
            </a:pPr>
            <a:r>
              <a:rPr lang="sk"/>
              <a:t> 2271  cat f1</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23326b8747_27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23326b8747_27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23326b8747_27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23326b8747_27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23326b8747_27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23326b8747_27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a:t>gitlab login</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e12db5650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e12db5650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23326b8747_27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23326b8747_27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23326b8747_27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23326b8747_27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23326b8747_27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23326b8747_27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23326b8747_27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23326b8747_27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a:t>gitlab projekt cisty</a:t>
            </a:r>
            <a:endParaRPr/>
          </a:p>
          <a:p>
            <a:pPr indent="0" lvl="0" marL="0" rtl="0" algn="l">
              <a:spcBef>
                <a:spcPts val="0"/>
              </a:spcBef>
              <a:spcAft>
                <a:spcPts val="0"/>
              </a:spcAft>
              <a:buNone/>
            </a:pPr>
            <a:r>
              <a:t/>
            </a:r>
            <a:endParaRPr/>
          </a:p>
          <a:p>
            <a:pPr indent="0" lvl="0" marL="0" rtl="0" algn="l">
              <a:spcBef>
                <a:spcPts val="0"/>
              </a:spcBef>
              <a:spcAft>
                <a:spcPts val="0"/>
              </a:spcAft>
              <a:buNone/>
            </a:pPr>
            <a:r>
              <a:rPr lang="sk"/>
              <a:t>git init -b main</a:t>
            </a:r>
            <a:endParaRPr/>
          </a:p>
          <a:p>
            <a:pPr indent="0" lvl="0" marL="0" rtl="0" algn="l">
              <a:spcBef>
                <a:spcPts val="0"/>
              </a:spcBef>
              <a:spcAft>
                <a:spcPts val="0"/>
              </a:spcAft>
              <a:buNone/>
            </a:pPr>
            <a:r>
              <a:rPr lang="sk"/>
              <a:t>git remote add origin ……..</a:t>
            </a:r>
            <a:endParaRPr/>
          </a:p>
          <a:p>
            <a:pPr indent="0" lvl="0" marL="0" rtl="0" algn="l">
              <a:spcBef>
                <a:spcPts val="0"/>
              </a:spcBef>
              <a:spcAft>
                <a:spcPts val="0"/>
              </a:spcAft>
              <a:buNone/>
            </a:pPr>
            <a:r>
              <a:rPr lang="sk"/>
              <a:t>git remote -v</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23326b8747_27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23326b8747_27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23326b8747_27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23326b8747_27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sk">
                <a:solidFill>
                  <a:schemeClr val="dk1"/>
                </a:solidFill>
              </a:rPr>
              <a:t>echo abcd &gt; f1</a:t>
            </a:r>
            <a:endParaRPr>
              <a:solidFill>
                <a:schemeClr val="dk1"/>
              </a:solidFill>
            </a:endParaRPr>
          </a:p>
          <a:p>
            <a:pPr indent="0" lvl="0" marL="0" rtl="0" algn="l">
              <a:spcBef>
                <a:spcPts val="0"/>
              </a:spcBef>
              <a:spcAft>
                <a:spcPts val="0"/>
              </a:spcAft>
              <a:buClr>
                <a:schemeClr val="dk1"/>
              </a:buClr>
              <a:buSzPts val="1100"/>
              <a:buFont typeface="Arial"/>
              <a:buNone/>
            </a:pPr>
            <a:r>
              <a:rPr lang="sk">
                <a:solidFill>
                  <a:schemeClr val="dk1"/>
                </a:solidFill>
              </a:rPr>
              <a:t>git add f1</a:t>
            </a:r>
            <a:endParaRPr>
              <a:solidFill>
                <a:schemeClr val="dk1"/>
              </a:solidFill>
            </a:endParaRPr>
          </a:p>
          <a:p>
            <a:pPr indent="0" lvl="0" marL="0" rtl="0" algn="l">
              <a:spcBef>
                <a:spcPts val="0"/>
              </a:spcBef>
              <a:spcAft>
                <a:spcPts val="0"/>
              </a:spcAft>
              <a:buClr>
                <a:schemeClr val="dk1"/>
              </a:buClr>
              <a:buSzPts val="1100"/>
              <a:buFont typeface="Arial"/>
              <a:buNone/>
            </a:pPr>
            <a:r>
              <a:rPr lang="sk">
                <a:solidFill>
                  <a:schemeClr val="dk1"/>
                </a:solidFill>
              </a:rPr>
              <a:t>git commit -m f1</a:t>
            </a:r>
            <a:endParaRPr>
              <a:solidFill>
                <a:schemeClr val="dk1"/>
              </a:solidFill>
            </a:endParaRPr>
          </a:p>
          <a:p>
            <a:pPr indent="0" lvl="0" marL="0" rtl="0" algn="l">
              <a:spcBef>
                <a:spcPts val="0"/>
              </a:spcBef>
              <a:spcAft>
                <a:spcPts val="0"/>
              </a:spcAft>
              <a:buClr>
                <a:schemeClr val="dk1"/>
              </a:buClr>
              <a:buSzPts val="1100"/>
              <a:buFont typeface="Arial"/>
              <a:buNone/>
            </a:pPr>
            <a:r>
              <a:rPr lang="sk">
                <a:solidFill>
                  <a:schemeClr val="dk1"/>
                </a:solidFill>
              </a:rPr>
              <a:t>git push -u origin main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sk">
                <a:solidFill>
                  <a:schemeClr val="dk1"/>
                </a:solidFill>
              </a:rPr>
              <a:t>check na gitlab</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23326b8747_27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23326b8747_27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a:t>zmeny v subore cez gitlab</a:t>
            </a:r>
            <a:endParaRPr/>
          </a:p>
          <a:p>
            <a:pPr indent="0" lvl="0" marL="0" rtl="0" algn="l">
              <a:spcBef>
                <a:spcPts val="0"/>
              </a:spcBef>
              <a:spcAft>
                <a:spcPts val="0"/>
              </a:spcAft>
              <a:buNone/>
            </a:pPr>
            <a:r>
              <a:t/>
            </a:r>
            <a:endParaRPr/>
          </a:p>
          <a:p>
            <a:pPr indent="0" lvl="0" marL="0" rtl="0" algn="l">
              <a:spcBef>
                <a:spcPts val="0"/>
              </a:spcBef>
              <a:spcAft>
                <a:spcPts val="0"/>
              </a:spcAft>
              <a:buNone/>
            </a:pPr>
            <a:r>
              <a:rPr lang="sk"/>
              <a:t>git status</a:t>
            </a:r>
            <a:endParaRPr/>
          </a:p>
          <a:p>
            <a:pPr indent="0" lvl="0" marL="0" rtl="0" algn="l">
              <a:spcBef>
                <a:spcPts val="0"/>
              </a:spcBef>
              <a:spcAft>
                <a:spcPts val="0"/>
              </a:spcAft>
              <a:buNone/>
            </a:pPr>
            <a:r>
              <a:rPr lang="sk"/>
              <a:t>git fetch</a:t>
            </a:r>
            <a:endParaRPr/>
          </a:p>
          <a:p>
            <a:pPr indent="0" lvl="0" marL="0" rtl="0" algn="l">
              <a:spcBef>
                <a:spcPts val="0"/>
              </a:spcBef>
              <a:spcAft>
                <a:spcPts val="0"/>
              </a:spcAft>
              <a:buNone/>
            </a:pPr>
            <a:r>
              <a:rPr lang="sk"/>
              <a:t>git diff main origin/main</a:t>
            </a:r>
            <a:endParaRPr/>
          </a:p>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23326b8747_27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23326b8747_27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a:t>git merge origin/main</a:t>
            </a:r>
            <a:endParaRPr/>
          </a:p>
          <a:p>
            <a:pPr indent="0" lvl="0" marL="0" rtl="0" algn="l">
              <a:spcBef>
                <a:spcPts val="0"/>
              </a:spcBef>
              <a:spcAft>
                <a:spcPts val="0"/>
              </a:spcAft>
              <a:buNone/>
            </a:pPr>
            <a:r>
              <a:rPr lang="sk"/>
              <a:t>- - - - - - - </a:t>
            </a:r>
            <a:endParaRPr/>
          </a:p>
          <a:p>
            <a:pPr indent="0" lvl="0" marL="0" rtl="0" algn="l">
              <a:spcBef>
                <a:spcPts val="0"/>
              </a:spcBef>
              <a:spcAft>
                <a:spcPts val="0"/>
              </a:spcAft>
              <a:buNone/>
            </a:pPr>
            <a:r>
              <a:t/>
            </a:r>
            <a:endParaRPr/>
          </a:p>
          <a:p>
            <a:pPr indent="0" lvl="0" marL="0" rtl="0" algn="l">
              <a:spcBef>
                <a:spcPts val="0"/>
              </a:spcBef>
              <a:spcAft>
                <a:spcPts val="0"/>
              </a:spcAft>
              <a:buNone/>
            </a:pPr>
            <a:r>
              <a:rPr lang="sk"/>
              <a:t>gitlab zmena suboru</a:t>
            </a:r>
            <a:endParaRPr/>
          </a:p>
          <a:p>
            <a:pPr indent="0" lvl="0" marL="0" rtl="0" algn="l">
              <a:spcBef>
                <a:spcPts val="0"/>
              </a:spcBef>
              <a:spcAft>
                <a:spcPts val="0"/>
              </a:spcAft>
              <a:buNone/>
            </a:pPr>
            <a:r>
              <a:rPr lang="sk"/>
              <a:t>git pull</a:t>
            </a:r>
            <a:endParaRPr/>
          </a:p>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23326b8747_27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23326b8747_27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a:t>vytvorit vetvu na gitlab</a:t>
            </a:r>
            <a:endParaRPr/>
          </a:p>
          <a:p>
            <a:pPr indent="0" lvl="0" marL="0" rtl="0" algn="l">
              <a:spcBef>
                <a:spcPts val="0"/>
              </a:spcBef>
              <a:spcAft>
                <a:spcPts val="0"/>
              </a:spcAft>
              <a:buNone/>
            </a:pPr>
            <a:r>
              <a:t/>
            </a:r>
            <a:endParaRPr/>
          </a:p>
          <a:p>
            <a:pPr indent="0" lvl="0" marL="0" rtl="0" algn="l">
              <a:spcBef>
                <a:spcPts val="0"/>
              </a:spcBef>
              <a:spcAft>
                <a:spcPts val="0"/>
              </a:spcAft>
              <a:buNone/>
            </a:pPr>
            <a:r>
              <a:rPr lang="sk"/>
              <a:t>git fetch</a:t>
            </a:r>
            <a:endParaRPr/>
          </a:p>
          <a:p>
            <a:pPr indent="0" lvl="0" marL="0" rtl="0" algn="l">
              <a:spcBef>
                <a:spcPts val="0"/>
              </a:spcBef>
              <a:spcAft>
                <a:spcPts val="0"/>
              </a:spcAft>
              <a:buNone/>
            </a:pPr>
            <a:r>
              <a:rPr lang="sk"/>
              <a:t>git branch -a</a:t>
            </a:r>
            <a:endParaRPr/>
          </a:p>
          <a:p>
            <a:pPr indent="0" lvl="0" marL="0" rtl="0" algn="l">
              <a:spcBef>
                <a:spcPts val="0"/>
              </a:spcBef>
              <a:spcAft>
                <a:spcPts val="0"/>
              </a:spcAft>
              <a:buNone/>
            </a:pPr>
            <a:r>
              <a:rPr lang="sk"/>
              <a:t>git status</a:t>
            </a:r>
            <a:endParaRPr/>
          </a:p>
          <a:p>
            <a:pPr indent="0" lvl="0" marL="0" rtl="0" algn="l">
              <a:spcBef>
                <a:spcPts val="0"/>
              </a:spcBef>
              <a:spcAft>
                <a:spcPts val="0"/>
              </a:spcAft>
              <a:buNone/>
            </a:pPr>
            <a:r>
              <a:rPr lang="sk"/>
              <a:t>git checkout branch</a:t>
            </a:r>
            <a:endParaRPr/>
          </a:p>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23326b8747_27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23326b8747_27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a:t>new dir</a:t>
            </a:r>
            <a:endParaRPr/>
          </a:p>
          <a:p>
            <a:pPr indent="0" lvl="0" marL="0" rtl="0" algn="l">
              <a:spcBef>
                <a:spcPts val="0"/>
              </a:spcBef>
              <a:spcAft>
                <a:spcPts val="0"/>
              </a:spcAft>
              <a:buNone/>
            </a:pPr>
            <a:r>
              <a:rPr lang="sk"/>
              <a:t>git clone https://……</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23326b8747_27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23326b8747_27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23326b8747_27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23326b8747_27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23326b8747_27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23326b8747_27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23326b8747_27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23326b8747_27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25087d70e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25087d70e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a:t>demo</a:t>
            </a:r>
            <a:endParaRPr/>
          </a:p>
          <a:p>
            <a:pPr indent="0" lvl="0" marL="0" rtl="0" algn="l">
              <a:spcBef>
                <a:spcPts val="0"/>
              </a:spcBef>
              <a:spcAft>
                <a:spcPts val="0"/>
              </a:spcAft>
              <a:buNone/>
            </a:pPr>
            <a:r>
              <a:t/>
            </a:r>
            <a:endParaRPr/>
          </a:p>
          <a:p>
            <a:pPr indent="0" lvl="0" marL="0" rtl="0" algn="l">
              <a:spcBef>
                <a:spcPts val="0"/>
              </a:spcBef>
              <a:spcAft>
                <a:spcPts val="0"/>
              </a:spcAft>
              <a:buNone/>
            </a:pPr>
            <a:r>
              <a:rPr lang="sk"/>
              <a:t>git status</a:t>
            </a:r>
            <a:endParaRPr/>
          </a:p>
          <a:p>
            <a:pPr indent="0" lvl="0" marL="0" rtl="0" algn="l">
              <a:spcBef>
                <a:spcPts val="0"/>
              </a:spcBef>
              <a:spcAft>
                <a:spcPts val="0"/>
              </a:spcAft>
              <a:buNone/>
            </a:pPr>
            <a:r>
              <a:rPr lang="sk"/>
              <a:t>git stash</a:t>
            </a:r>
            <a:endParaRPr/>
          </a:p>
          <a:p>
            <a:pPr indent="0" lvl="0" marL="0" rtl="0" algn="l">
              <a:spcBef>
                <a:spcPts val="0"/>
              </a:spcBef>
              <a:spcAft>
                <a:spcPts val="0"/>
              </a:spcAft>
              <a:buNone/>
            </a:pPr>
            <a:r>
              <a:rPr lang="sk"/>
              <a:t>git status</a:t>
            </a:r>
            <a:endParaRPr/>
          </a:p>
          <a:p>
            <a:pPr indent="0" lvl="0" marL="0" rtl="0" algn="l">
              <a:spcBef>
                <a:spcPts val="0"/>
              </a:spcBef>
              <a:spcAft>
                <a:spcPts val="0"/>
              </a:spcAft>
              <a:buNone/>
            </a:pPr>
            <a:r>
              <a:rPr lang="sk"/>
              <a:t>git changes…</a:t>
            </a:r>
            <a:endParaRPr/>
          </a:p>
          <a:p>
            <a:pPr indent="0" lvl="0" marL="0" rtl="0" algn="l">
              <a:spcBef>
                <a:spcPts val="0"/>
              </a:spcBef>
              <a:spcAft>
                <a:spcPts val="0"/>
              </a:spcAft>
              <a:buNone/>
            </a:pPr>
            <a:r>
              <a:rPr lang="sk"/>
              <a:t>git stash pop(apply)</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25087d70e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25087d70e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a:t>demo</a:t>
            </a:r>
            <a:endParaRPr/>
          </a:p>
          <a:p>
            <a:pPr indent="0" lvl="0" marL="0" rtl="0" algn="l">
              <a:spcBef>
                <a:spcPts val="0"/>
              </a:spcBef>
              <a:spcAft>
                <a:spcPts val="0"/>
              </a:spcAft>
              <a:buNone/>
            </a:pPr>
            <a:r>
              <a:t/>
            </a:r>
            <a:endParaRPr/>
          </a:p>
          <a:p>
            <a:pPr indent="0" lvl="0" marL="0" rtl="0" algn="l">
              <a:spcBef>
                <a:spcPts val="0"/>
              </a:spcBef>
              <a:spcAft>
                <a:spcPts val="0"/>
              </a:spcAft>
              <a:buNone/>
            </a:pPr>
            <a:r>
              <a:rPr lang="sk"/>
              <a:t>git log –oneline</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252b440b5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252b440b5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a:t>demo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252b440b5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252b440b5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a:t>git rebase -i HEAD~3</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252b440b54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252b440b5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2d7c502d20e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2d7c502d20e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23326b8747_27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23326b8747_27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23326b8747_27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23326b8747_27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23326b8747_27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23326b8747_27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23326b8747_27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23326b8747_27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23326b8747_27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323326b8747_27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23326b8747_27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23326b8747_27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23326b8747_27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23326b8747_27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a:t>git switch -c branch</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23326b8747_27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23326b8747_27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s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4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git-scm.com/book" TargetMode="External"/><Relationship Id="rId4" Type="http://schemas.openxmlformats.org/officeDocument/2006/relationships/hyperlink" Target="https://git-scm.com/book/cs/v2" TargetMode="External"/><Relationship Id="rId5" Type="http://schemas.openxmlformats.org/officeDocument/2006/relationships/hyperlink" Target="https://www.atlassian.com/git" TargetMode="External"/><Relationship Id="rId6" Type="http://schemas.openxmlformats.org/officeDocument/2006/relationships/hyperlink" Target="https://www.itnetwork.cz/programovani/git/git-tutorial-zaklady"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wac-cdn.atlassian.com/dam/jcr:e7e22f25-bba2-4ef1-a197-53f46b6df4a5/SWTM-2088_Atlassian-Git-Cheatsheet.pdf?cdnVersion=2491"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gitforwindows.org/" TargetMode="External"/><Relationship Id="rId4" Type="http://schemas.openxmlformats.org/officeDocument/2006/relationships/hyperlink" Target="https://github.com/git-for-windows/git/releases/download/v2.54.0.windows.1/PortableGit-2.54.0-64-bit.7z.exe" TargetMode="External"/><Relationship Id="rId5" Type="http://schemas.openxmlformats.org/officeDocument/2006/relationships/hyperlink" Target="https://git-scm.com/downloads/gui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zeus.fei.tuke.sk/git/git1.html" TargetMode="External"/><Relationship Id="rId4" Type="http://schemas.openxmlformats.org/officeDocument/2006/relationships/hyperlink" Target="https://docs.google.com/document/d/1tY3hwP-lazsVip6ULPcqxYbxe4f_u7BSmCt0pr6Gpe0/edit?usp=sharing"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9.png"/><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4.png"/><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git-scm.com/book/cs/v2/Git-Tools-Reset-Demystified"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docs.google.com/document/d/1wYdyXlDaZp5dxQsjYPekAp0oWlS-0M5kZOmnHdtCmhg/edit?usp=sharing"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hyperlink" Target="https://docs.google.com/document/d/1CjpQSLBXQNRSQquDXfxxzqrvNA87tQZ9UX9R-9ZfdBw/edit?usp=sharing"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4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s://docs.google.com/document/d/1uJxeoGkUgq-_i5pm3nKEr0H5qWRzZSKIk8ggNjrrh90/edit?usp=sharing"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2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hyperlink" Target="http://zeus.fei.tuke.sk/git/git2.html" TargetMode="External"/><Relationship Id="rId4" Type="http://schemas.openxmlformats.org/officeDocument/2006/relationships/hyperlink" Target="http://zeus.fei.tuke.sk/git/git3.html" TargetMode="External"/><Relationship Id="rId5" Type="http://schemas.openxmlformats.org/officeDocument/2006/relationships/hyperlink" Target="https://docs.google.com/document/d/1L2aJyPvGiZxK5_X_v1EaLUOQhKrl2QO2P_Vc5mRfAdU/edit?usp=sharing"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hyperlink" Target="https://docs.google.com/document/d/1f4-pzqwKgQNVIVGBc__hfiKylNBI5Xig7bBSe5p-ll0/edit?usp=sharing"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3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2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2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hyperlink" Target="https://docs.google.com/document/d/1TNn7XZ8jqPFiXWuFIm8v0RYK-vkUWC4OIofi3NamlcI/edit?usp=sharing"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3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hyperlink" Target="https://docs.google.com/document/d/1mNCKAjU-4GRi9o_TcUMRRzgRQrTdJkvVf6_L6iFZyG0/edit?usp=sharing" TargetMode="External"/><Relationship Id="rId4" Type="http://schemas.openxmlformats.org/officeDocument/2006/relationships/hyperlink" Target="https://docs.google.com/document/d/1xstPGwzzC0rDIFechTEYKc66XssYd7G07lVPscSKhkY/edit?usp=sharing"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2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3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3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33.png"/><Relationship Id="rId4" Type="http://schemas.openxmlformats.org/officeDocument/2006/relationships/image" Target="../media/image46.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4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4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4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4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4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36.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hyperlink" Target="https://console.cloud.google.com/cloudshell/editor?cloudshell_git_repo=https://github.com/praqma-training/git-katas.git" TargetMode="External"/><Relationship Id="rId4" Type="http://schemas.openxmlformats.org/officeDocument/2006/relationships/hyperlink" Target="https://github.com/eficode-academy/git-katas" TargetMode="External"/><Relationship Id="rId5" Type="http://schemas.openxmlformats.org/officeDocument/2006/relationships/hyperlink" Target="https://www.w3schools.com/git/exercise.as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sk"/>
              <a:t>Git</a:t>
            </a:r>
            <a:endParaRPr/>
          </a:p>
        </p:txBody>
      </p:sp>
      <p:sp>
        <p:nvSpPr>
          <p:cNvPr id="57" name="Google Shape;57;p13"/>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sk"/>
              <a:t>Anton Bal</a:t>
            </a:r>
            <a:r>
              <a:rPr lang="sk"/>
              <a:t>áž</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sk"/>
              <a:t>About Version Control Tools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Version Control Tools</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Revision control </a:t>
            </a:r>
            <a:r>
              <a:rPr lang="sk"/>
              <a:t>[...] is the management of </a:t>
            </a:r>
            <a:r>
              <a:rPr b="1" lang="sk"/>
              <a:t>changes</a:t>
            </a:r>
            <a:r>
              <a:rPr lang="sk"/>
              <a:t> to documents, computer programs, large web sites, and other collections of information.</a:t>
            </a:r>
            <a:endParaRPr/>
          </a:p>
          <a:p>
            <a:pPr indent="-342900" lvl="0" marL="457200" rtl="0" algn="l">
              <a:spcBef>
                <a:spcPts val="0"/>
              </a:spcBef>
              <a:spcAft>
                <a:spcPts val="0"/>
              </a:spcAft>
              <a:buSzPts val="1800"/>
              <a:buChar char="●"/>
            </a:pPr>
            <a:r>
              <a:rPr b="1" lang="sk"/>
              <a:t>Changes</a:t>
            </a:r>
            <a:r>
              <a:rPr lang="sk"/>
              <a:t> are usually identified by a </a:t>
            </a:r>
            <a:r>
              <a:rPr b="1" lang="sk"/>
              <a:t>number</a:t>
            </a:r>
            <a:r>
              <a:rPr lang="sk"/>
              <a:t> or </a:t>
            </a:r>
            <a:r>
              <a:rPr b="1" lang="sk"/>
              <a:t>letter code</a:t>
            </a:r>
            <a:r>
              <a:rPr lang="sk"/>
              <a:t>, termed the revision number” [...]. For example, an initial set of files is ”revision 1”. When the first change is made, the resulting set is ”revision 2”, and so on.</a:t>
            </a:r>
            <a:endParaRPr/>
          </a:p>
          <a:p>
            <a:pPr indent="-342900" lvl="0" marL="457200" rtl="0" algn="l">
              <a:spcBef>
                <a:spcPts val="0"/>
              </a:spcBef>
              <a:spcAft>
                <a:spcPts val="0"/>
              </a:spcAft>
              <a:buSzPts val="1800"/>
              <a:buChar char="●"/>
            </a:pPr>
            <a:r>
              <a:rPr lang="sk"/>
              <a:t>Each </a:t>
            </a:r>
            <a:r>
              <a:rPr b="1" lang="sk"/>
              <a:t>revision</a:t>
            </a:r>
            <a:r>
              <a:rPr lang="sk"/>
              <a:t> is associated with a </a:t>
            </a:r>
            <a:r>
              <a:rPr b="1" lang="sk"/>
              <a:t>timestamp</a:t>
            </a:r>
            <a:r>
              <a:rPr lang="sk"/>
              <a:t> and the </a:t>
            </a:r>
            <a:r>
              <a:rPr b="1" lang="sk"/>
              <a:t>person</a:t>
            </a:r>
            <a:r>
              <a:rPr lang="sk"/>
              <a:t> making the change.</a:t>
            </a:r>
            <a:endParaRPr/>
          </a:p>
          <a:p>
            <a:pPr indent="-342900" lvl="0" marL="457200" rtl="0" algn="l">
              <a:spcBef>
                <a:spcPts val="0"/>
              </a:spcBef>
              <a:spcAft>
                <a:spcPts val="0"/>
              </a:spcAft>
              <a:buSzPts val="1800"/>
              <a:buChar char="●"/>
            </a:pPr>
            <a:r>
              <a:rPr b="1" lang="sk"/>
              <a:t>Revisions</a:t>
            </a:r>
            <a:r>
              <a:rPr lang="sk"/>
              <a:t> can be </a:t>
            </a:r>
            <a:r>
              <a:rPr b="1" lang="sk"/>
              <a:t>compared</a:t>
            </a:r>
            <a:r>
              <a:rPr lang="sk"/>
              <a:t>, </a:t>
            </a:r>
            <a:r>
              <a:rPr b="1" lang="sk"/>
              <a:t>restored</a:t>
            </a:r>
            <a:r>
              <a:rPr lang="sk"/>
              <a:t>, and with some types of files, merged.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Use case 1: keeping an history</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sk"/>
              <a:t>The life of your software/article is recorded from the beginning</a:t>
            </a:r>
            <a:endParaRPr/>
          </a:p>
          <a:p>
            <a:pPr indent="-342900" lvl="0" marL="457200" rtl="0" algn="l">
              <a:spcBef>
                <a:spcPts val="1200"/>
              </a:spcBef>
              <a:spcAft>
                <a:spcPts val="0"/>
              </a:spcAft>
              <a:buSzPts val="1800"/>
              <a:buChar char="●"/>
            </a:pPr>
            <a:r>
              <a:rPr lang="sk"/>
              <a:t>at any moment you can revert to a previous revision</a:t>
            </a:r>
            <a:endParaRPr/>
          </a:p>
          <a:p>
            <a:pPr indent="-342900" lvl="0" marL="457200" rtl="0" algn="l">
              <a:spcBef>
                <a:spcPts val="0"/>
              </a:spcBef>
              <a:spcAft>
                <a:spcPts val="0"/>
              </a:spcAft>
              <a:buSzPts val="1800"/>
              <a:buChar char="●"/>
            </a:pPr>
            <a:r>
              <a:rPr lang="sk"/>
              <a:t>the history is browseable, you can inspect any revision</a:t>
            </a:r>
            <a:endParaRPr/>
          </a:p>
          <a:p>
            <a:pPr indent="-317500" lvl="1" marL="914400" rtl="0" algn="l">
              <a:spcBef>
                <a:spcPts val="0"/>
              </a:spcBef>
              <a:spcAft>
                <a:spcPts val="0"/>
              </a:spcAft>
              <a:buSzPts val="1400"/>
              <a:buChar char="○"/>
            </a:pPr>
            <a:r>
              <a:rPr b="1" lang="sk"/>
              <a:t>when was it done ?</a:t>
            </a:r>
            <a:endParaRPr b="1"/>
          </a:p>
          <a:p>
            <a:pPr indent="-317500" lvl="1" marL="914400" rtl="0" algn="l">
              <a:spcBef>
                <a:spcPts val="0"/>
              </a:spcBef>
              <a:spcAft>
                <a:spcPts val="0"/>
              </a:spcAft>
              <a:buSzPts val="1400"/>
              <a:buChar char="○"/>
            </a:pPr>
            <a:r>
              <a:rPr b="1" lang="sk"/>
              <a:t>who wrote it ?</a:t>
            </a:r>
            <a:endParaRPr b="1"/>
          </a:p>
          <a:p>
            <a:pPr indent="-317500" lvl="1" marL="914400" rtl="0" algn="l">
              <a:spcBef>
                <a:spcPts val="0"/>
              </a:spcBef>
              <a:spcAft>
                <a:spcPts val="0"/>
              </a:spcAft>
              <a:buSzPts val="1400"/>
              <a:buChar char="○"/>
            </a:pPr>
            <a:r>
              <a:rPr b="1" lang="sk"/>
              <a:t>what was changed ?</a:t>
            </a:r>
            <a:endParaRPr b="1"/>
          </a:p>
          <a:p>
            <a:pPr indent="-317500" lvl="1" marL="914400" rtl="0" algn="l">
              <a:spcBef>
                <a:spcPts val="0"/>
              </a:spcBef>
              <a:spcAft>
                <a:spcPts val="0"/>
              </a:spcAft>
              <a:buSzPts val="1400"/>
              <a:buChar char="○"/>
            </a:pPr>
            <a:r>
              <a:rPr b="1" lang="sk"/>
              <a:t>why ?</a:t>
            </a:r>
            <a:endParaRPr b="1"/>
          </a:p>
          <a:p>
            <a:pPr indent="-317500" lvl="1" marL="914400" rtl="0" algn="l">
              <a:spcBef>
                <a:spcPts val="0"/>
              </a:spcBef>
              <a:spcAft>
                <a:spcPts val="0"/>
              </a:spcAft>
              <a:buSzPts val="1400"/>
              <a:buChar char="○"/>
            </a:pPr>
            <a:r>
              <a:rPr b="1" lang="sk"/>
              <a:t>in which context ?</a:t>
            </a:r>
            <a:endParaRPr b="1"/>
          </a:p>
          <a:p>
            <a:pPr indent="-342900" lvl="0" marL="457200" rtl="0" algn="l">
              <a:spcBef>
                <a:spcPts val="0"/>
              </a:spcBef>
              <a:spcAft>
                <a:spcPts val="0"/>
              </a:spcAft>
              <a:buSzPts val="1800"/>
              <a:buChar char="●"/>
            </a:pPr>
            <a:r>
              <a:rPr lang="sk"/>
              <a:t>all the deleted content remains accessible in the history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Use case 2: working with others</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sk"/>
              <a:t>VC tools help you to:</a:t>
            </a:r>
            <a:endParaRPr/>
          </a:p>
          <a:p>
            <a:pPr indent="-342900" lvl="0" marL="457200" rtl="0" algn="l">
              <a:spcBef>
                <a:spcPts val="1200"/>
              </a:spcBef>
              <a:spcAft>
                <a:spcPts val="0"/>
              </a:spcAft>
              <a:buSzPts val="1800"/>
              <a:buChar char="●"/>
            </a:pPr>
            <a:r>
              <a:rPr lang="sk"/>
              <a:t>share a collection of files with your team</a:t>
            </a:r>
            <a:endParaRPr/>
          </a:p>
          <a:p>
            <a:pPr indent="-342900" lvl="0" marL="457200" rtl="0" algn="l">
              <a:spcBef>
                <a:spcPts val="0"/>
              </a:spcBef>
              <a:spcAft>
                <a:spcPts val="0"/>
              </a:spcAft>
              <a:buSzPts val="1800"/>
              <a:buChar char="●"/>
            </a:pPr>
            <a:r>
              <a:rPr lang="sk"/>
              <a:t>merge changes done by other users</a:t>
            </a:r>
            <a:endParaRPr/>
          </a:p>
          <a:p>
            <a:pPr indent="-342900" lvl="0" marL="457200" rtl="0" algn="l">
              <a:spcBef>
                <a:spcPts val="0"/>
              </a:spcBef>
              <a:spcAft>
                <a:spcPts val="0"/>
              </a:spcAft>
              <a:buSzPts val="1800"/>
              <a:buChar char="●"/>
            </a:pPr>
            <a:r>
              <a:rPr lang="sk"/>
              <a:t>ensure that nothing is accidentally overwritten</a:t>
            </a:r>
            <a:endParaRPr/>
          </a:p>
          <a:p>
            <a:pPr indent="0" lvl="0" marL="45720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Use case 3: branching</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sk"/>
              <a:t>You may have multiple variants of the same software, materialised as branches, for example:</a:t>
            </a:r>
            <a:endParaRPr/>
          </a:p>
          <a:p>
            <a:pPr indent="-342900" lvl="0" marL="457200" rtl="0" algn="l">
              <a:spcBef>
                <a:spcPts val="1200"/>
              </a:spcBef>
              <a:spcAft>
                <a:spcPts val="0"/>
              </a:spcAft>
              <a:buSzPts val="1800"/>
              <a:buChar char="●"/>
            </a:pPr>
            <a:r>
              <a:rPr lang="sk"/>
              <a:t>a </a:t>
            </a:r>
            <a:r>
              <a:rPr b="1" lang="sk"/>
              <a:t>main branch</a:t>
            </a:r>
            <a:endParaRPr b="1"/>
          </a:p>
          <a:p>
            <a:pPr indent="-342900" lvl="0" marL="457200" rtl="0" algn="l">
              <a:spcBef>
                <a:spcPts val="0"/>
              </a:spcBef>
              <a:spcAft>
                <a:spcPts val="0"/>
              </a:spcAft>
              <a:buSzPts val="1800"/>
              <a:buChar char="●"/>
            </a:pPr>
            <a:r>
              <a:rPr lang="sk"/>
              <a:t>a </a:t>
            </a:r>
            <a:r>
              <a:rPr b="1" lang="sk"/>
              <a:t>maintenance</a:t>
            </a:r>
            <a:r>
              <a:rPr b="1" lang="sk"/>
              <a:t> branch</a:t>
            </a:r>
            <a:r>
              <a:rPr lang="sk"/>
              <a:t> (to provide bugfixes in older releases)</a:t>
            </a:r>
            <a:endParaRPr/>
          </a:p>
          <a:p>
            <a:pPr indent="-342900" lvl="0" marL="457200" rtl="0" algn="l">
              <a:spcBef>
                <a:spcPts val="0"/>
              </a:spcBef>
              <a:spcAft>
                <a:spcPts val="0"/>
              </a:spcAft>
              <a:buSzPts val="1800"/>
              <a:buChar char="●"/>
            </a:pPr>
            <a:r>
              <a:rPr lang="sk"/>
              <a:t>a </a:t>
            </a:r>
            <a:r>
              <a:rPr b="1" lang="sk"/>
              <a:t>development branch</a:t>
            </a:r>
            <a:r>
              <a:rPr lang="sk"/>
              <a:t> (to make disruptive changes)</a:t>
            </a:r>
            <a:endParaRPr/>
          </a:p>
          <a:p>
            <a:pPr indent="-342900" lvl="0" marL="457200" rtl="0" algn="l">
              <a:spcBef>
                <a:spcPts val="0"/>
              </a:spcBef>
              <a:spcAft>
                <a:spcPts val="0"/>
              </a:spcAft>
              <a:buSzPts val="1800"/>
              <a:buChar char="●"/>
            </a:pPr>
            <a:r>
              <a:rPr lang="sk"/>
              <a:t>a </a:t>
            </a:r>
            <a:r>
              <a:rPr b="1" lang="sk"/>
              <a:t>release branch </a:t>
            </a:r>
            <a:r>
              <a:rPr lang="sk"/>
              <a:t>(to freeze code before a new release)</a:t>
            </a:r>
            <a:endParaRPr/>
          </a:p>
          <a:p>
            <a:pPr indent="0" lvl="0" marL="0" rtl="0" algn="l">
              <a:spcBef>
                <a:spcPts val="1200"/>
              </a:spcBef>
              <a:spcAft>
                <a:spcPts val="0"/>
              </a:spcAft>
              <a:buNone/>
            </a:pPr>
            <a:r>
              <a:rPr lang="sk"/>
              <a:t>VC tools will help you to</a:t>
            </a:r>
            <a:endParaRPr/>
          </a:p>
          <a:p>
            <a:pPr indent="-342900" lvl="0" marL="457200" rtl="0" algn="l">
              <a:spcBef>
                <a:spcPts val="1200"/>
              </a:spcBef>
              <a:spcAft>
                <a:spcPts val="0"/>
              </a:spcAft>
              <a:buSzPts val="1800"/>
              <a:buChar char="●"/>
            </a:pPr>
            <a:r>
              <a:rPr lang="sk"/>
              <a:t>handle multiple branches concurrently</a:t>
            </a:r>
            <a:endParaRPr/>
          </a:p>
          <a:p>
            <a:pPr indent="-342900" lvl="0" marL="457200" rtl="0" algn="l">
              <a:spcBef>
                <a:spcPts val="0"/>
              </a:spcBef>
              <a:spcAft>
                <a:spcPts val="0"/>
              </a:spcAft>
              <a:buSzPts val="1800"/>
              <a:buChar char="●"/>
            </a:pPr>
            <a:r>
              <a:rPr lang="sk"/>
              <a:t>merge changes from a branch into another one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UC 4: working with external contributors</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sk"/>
              <a:t>VC tools help working with third-party contributors:</a:t>
            </a:r>
            <a:endParaRPr/>
          </a:p>
          <a:p>
            <a:pPr indent="-342900" lvl="0" marL="457200" rtl="0" algn="l">
              <a:spcBef>
                <a:spcPts val="1200"/>
              </a:spcBef>
              <a:spcAft>
                <a:spcPts val="0"/>
              </a:spcAft>
              <a:buSzPts val="1800"/>
              <a:buChar char="●"/>
            </a:pPr>
            <a:r>
              <a:rPr lang="sk"/>
              <a:t>it gives them visibility of what is happening in the project</a:t>
            </a:r>
            <a:endParaRPr/>
          </a:p>
          <a:p>
            <a:pPr indent="-342900" lvl="0" marL="457200" rtl="0" algn="l">
              <a:spcBef>
                <a:spcPts val="0"/>
              </a:spcBef>
              <a:spcAft>
                <a:spcPts val="0"/>
              </a:spcAft>
              <a:buSzPts val="1800"/>
              <a:buChar char="●"/>
            </a:pPr>
            <a:r>
              <a:rPr lang="sk"/>
              <a:t>it helps them to submit changes (patches) and it helps you to integrate these patches</a:t>
            </a:r>
            <a:endParaRPr/>
          </a:p>
          <a:p>
            <a:pPr indent="-342900" lvl="0" marL="457200" rtl="0" algn="l">
              <a:spcBef>
                <a:spcPts val="0"/>
              </a:spcBef>
              <a:spcAft>
                <a:spcPts val="0"/>
              </a:spcAft>
              <a:buSzPts val="1800"/>
              <a:buChar char="●"/>
            </a:pPr>
            <a:r>
              <a:rPr lang="sk"/>
              <a:t>forking the development of a software and merging it back into mainline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Centralized VCS</a:t>
            </a:r>
            <a:endParaRPr/>
          </a:p>
        </p:txBody>
      </p:sp>
      <p:sp>
        <p:nvSpPr>
          <p:cNvPr id="98" name="Google Shape;98;p20"/>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sk"/>
              <a:t>In Subversion, CVS, etc. A central server repository (repo)  holds the "official copy" of the code</a:t>
            </a:r>
            <a:endParaRPr/>
          </a:p>
          <a:p>
            <a:pPr indent="-317500" lvl="0" marL="457200" rtl="0" algn="l">
              <a:spcBef>
                <a:spcPts val="0"/>
              </a:spcBef>
              <a:spcAft>
                <a:spcPts val="0"/>
              </a:spcAft>
              <a:buSzPts val="1400"/>
              <a:buChar char="●"/>
            </a:pPr>
            <a:r>
              <a:rPr lang="sk"/>
              <a:t>You make "checkouts" of it to your local copy</a:t>
            </a:r>
            <a:endParaRPr/>
          </a:p>
          <a:p>
            <a:pPr indent="-304800" lvl="1" marL="914400" rtl="0" algn="l">
              <a:spcBef>
                <a:spcPts val="0"/>
              </a:spcBef>
              <a:spcAft>
                <a:spcPts val="0"/>
              </a:spcAft>
              <a:buSzPts val="1200"/>
              <a:buChar char="○"/>
            </a:pPr>
            <a:r>
              <a:rPr lang="sk"/>
              <a:t>you make local modifications</a:t>
            </a:r>
            <a:endParaRPr/>
          </a:p>
          <a:p>
            <a:pPr indent="-304800" lvl="1" marL="914400" rtl="0" algn="l">
              <a:spcBef>
                <a:spcPts val="0"/>
              </a:spcBef>
              <a:spcAft>
                <a:spcPts val="0"/>
              </a:spcAft>
              <a:buSzPts val="1200"/>
              <a:buChar char="○"/>
            </a:pPr>
            <a:r>
              <a:rPr lang="sk"/>
              <a:t>your changes are not versioned</a:t>
            </a:r>
            <a:endParaRPr/>
          </a:p>
          <a:p>
            <a:pPr indent="-317500" lvl="0" marL="457200" rtl="0" algn="l">
              <a:spcBef>
                <a:spcPts val="0"/>
              </a:spcBef>
              <a:spcAft>
                <a:spcPts val="0"/>
              </a:spcAft>
              <a:buSzPts val="1400"/>
              <a:buChar char="●"/>
            </a:pPr>
            <a:r>
              <a:rPr lang="sk"/>
              <a:t>When you're done, you "check in" back to the server</a:t>
            </a:r>
            <a:endParaRPr/>
          </a:p>
          <a:p>
            <a:pPr indent="0" lvl="0" marL="0" rtl="0" algn="l">
              <a:spcBef>
                <a:spcPts val="1200"/>
              </a:spcBef>
              <a:spcAft>
                <a:spcPts val="1200"/>
              </a:spcAft>
              <a:buNone/>
            </a:pPr>
            <a:r>
              <a:t/>
            </a:r>
            <a:endParaRPr/>
          </a:p>
        </p:txBody>
      </p:sp>
      <p:pic>
        <p:nvPicPr>
          <p:cNvPr id="99" name="Google Shape;99;p20"/>
          <p:cNvPicPr preferRelativeResize="0"/>
          <p:nvPr/>
        </p:nvPicPr>
        <p:blipFill>
          <a:blip r:embed="rId3">
            <a:alphaModFix/>
          </a:blip>
          <a:stretch>
            <a:fillRect/>
          </a:stretch>
        </p:blipFill>
        <p:spPr>
          <a:xfrm>
            <a:off x="4878400" y="1316073"/>
            <a:ext cx="3808849" cy="2972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Distributed VCS (Git)</a:t>
            </a:r>
            <a:endParaRPr/>
          </a:p>
        </p:txBody>
      </p:sp>
      <p:sp>
        <p:nvSpPr>
          <p:cNvPr id="105" name="Google Shape;105;p21"/>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sk"/>
              <a:t>In git, mercurial, etc., you don't "checkout" from a central repo</a:t>
            </a:r>
            <a:endParaRPr/>
          </a:p>
          <a:p>
            <a:pPr indent="-304800" lvl="1" marL="914400" rtl="0" algn="l">
              <a:spcBef>
                <a:spcPts val="0"/>
              </a:spcBef>
              <a:spcAft>
                <a:spcPts val="0"/>
              </a:spcAft>
              <a:buSzPts val="1200"/>
              <a:buChar char="○"/>
            </a:pPr>
            <a:r>
              <a:rPr lang="sk"/>
              <a:t>you "</a:t>
            </a:r>
            <a:r>
              <a:rPr b="1" lang="sk"/>
              <a:t>clone</a:t>
            </a:r>
            <a:r>
              <a:rPr lang="sk"/>
              <a:t>" it and "</a:t>
            </a:r>
            <a:r>
              <a:rPr b="1" lang="sk"/>
              <a:t>pull</a:t>
            </a:r>
            <a:r>
              <a:rPr lang="sk"/>
              <a:t>" changes from it</a:t>
            </a:r>
            <a:endParaRPr/>
          </a:p>
          <a:p>
            <a:pPr indent="-317500" lvl="0" marL="457200" rtl="0" algn="l">
              <a:spcBef>
                <a:spcPts val="0"/>
              </a:spcBef>
              <a:spcAft>
                <a:spcPts val="0"/>
              </a:spcAft>
              <a:buSzPts val="1400"/>
              <a:buChar char="●"/>
            </a:pPr>
            <a:r>
              <a:rPr lang="sk"/>
              <a:t>Your </a:t>
            </a:r>
            <a:r>
              <a:rPr b="1" lang="sk"/>
              <a:t>local repo</a:t>
            </a:r>
            <a:r>
              <a:rPr lang="sk"/>
              <a:t> is a complete copy of everything on the remote server</a:t>
            </a:r>
            <a:endParaRPr/>
          </a:p>
          <a:p>
            <a:pPr indent="-317500" lvl="0" marL="457200" rtl="0" algn="l">
              <a:spcBef>
                <a:spcPts val="0"/>
              </a:spcBef>
              <a:spcAft>
                <a:spcPts val="0"/>
              </a:spcAft>
              <a:buSzPts val="1400"/>
              <a:buChar char="●"/>
            </a:pPr>
            <a:r>
              <a:rPr lang="sk"/>
              <a:t>Many operations are local:</a:t>
            </a:r>
            <a:endParaRPr/>
          </a:p>
          <a:p>
            <a:pPr indent="-304800" lvl="1" marL="914400" rtl="0" algn="l">
              <a:spcBef>
                <a:spcPts val="0"/>
              </a:spcBef>
              <a:spcAft>
                <a:spcPts val="0"/>
              </a:spcAft>
              <a:buSzPts val="1200"/>
              <a:buChar char="○"/>
            </a:pPr>
            <a:r>
              <a:rPr b="1" lang="sk"/>
              <a:t>check in/out </a:t>
            </a:r>
            <a:r>
              <a:rPr lang="sk"/>
              <a:t>from local repo</a:t>
            </a:r>
            <a:endParaRPr/>
          </a:p>
          <a:p>
            <a:pPr indent="-304800" lvl="1" marL="914400" rtl="0" algn="l">
              <a:spcBef>
                <a:spcPts val="0"/>
              </a:spcBef>
              <a:spcAft>
                <a:spcPts val="0"/>
              </a:spcAft>
              <a:buSzPts val="1200"/>
              <a:buChar char="○"/>
            </a:pPr>
            <a:r>
              <a:rPr b="1" lang="sk"/>
              <a:t>commit </a:t>
            </a:r>
            <a:r>
              <a:rPr lang="sk"/>
              <a:t>changes to local repo</a:t>
            </a:r>
            <a:endParaRPr/>
          </a:p>
          <a:p>
            <a:pPr indent="-304800" lvl="1" marL="914400" rtl="0" algn="l">
              <a:spcBef>
                <a:spcPts val="0"/>
              </a:spcBef>
              <a:spcAft>
                <a:spcPts val="0"/>
              </a:spcAft>
              <a:buSzPts val="1200"/>
              <a:buChar char="○"/>
            </a:pPr>
            <a:r>
              <a:rPr b="1" lang="sk"/>
              <a:t>local repo keeps version history</a:t>
            </a:r>
            <a:endParaRPr b="1"/>
          </a:p>
          <a:p>
            <a:pPr indent="-317500" lvl="0" marL="457200" rtl="0" algn="l">
              <a:spcBef>
                <a:spcPts val="0"/>
              </a:spcBef>
              <a:spcAft>
                <a:spcPts val="0"/>
              </a:spcAft>
              <a:buSzPts val="1400"/>
              <a:buChar char="●"/>
            </a:pPr>
            <a:r>
              <a:rPr lang="sk"/>
              <a:t>When you're ready, you can "</a:t>
            </a:r>
            <a:r>
              <a:rPr b="1" lang="sk"/>
              <a:t>push</a:t>
            </a:r>
            <a:r>
              <a:rPr lang="sk"/>
              <a:t>" changes back to server</a:t>
            </a:r>
            <a:endParaRPr/>
          </a:p>
        </p:txBody>
      </p:sp>
      <p:pic>
        <p:nvPicPr>
          <p:cNvPr id="106" name="Google Shape;106;p21"/>
          <p:cNvPicPr preferRelativeResize="0"/>
          <p:nvPr/>
        </p:nvPicPr>
        <p:blipFill>
          <a:blip r:embed="rId3">
            <a:alphaModFix/>
          </a:blip>
          <a:stretch>
            <a:fillRect/>
          </a:stretch>
        </p:blipFill>
        <p:spPr>
          <a:xfrm>
            <a:off x="5246938" y="869950"/>
            <a:ext cx="3514725" cy="3981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Git snapshots</a:t>
            </a:r>
            <a:endParaRPr/>
          </a:p>
        </p:txBody>
      </p:sp>
      <p:sp>
        <p:nvSpPr>
          <p:cNvPr id="112" name="Google Shape;112;p2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b="1" lang="sk"/>
              <a:t>Centralized</a:t>
            </a:r>
            <a:r>
              <a:rPr lang="sk"/>
              <a:t> VCS like Subversion </a:t>
            </a:r>
            <a:r>
              <a:rPr b="1" lang="sk"/>
              <a:t>track version data on each individual file</a:t>
            </a:r>
            <a:r>
              <a:rPr lang="sk"/>
              <a:t>.</a:t>
            </a:r>
            <a:endParaRPr/>
          </a:p>
          <a:p>
            <a:pPr indent="-317500" lvl="0" marL="457200" rtl="0" algn="l">
              <a:spcBef>
                <a:spcPts val="0"/>
              </a:spcBef>
              <a:spcAft>
                <a:spcPts val="0"/>
              </a:spcAft>
              <a:buSzPts val="1400"/>
              <a:buChar char="●"/>
            </a:pPr>
            <a:r>
              <a:rPr b="1" lang="sk"/>
              <a:t>Git</a:t>
            </a:r>
            <a:r>
              <a:rPr lang="sk"/>
              <a:t> keeps "snapshots" of the entire state of the project.</a:t>
            </a:r>
            <a:endParaRPr/>
          </a:p>
          <a:p>
            <a:pPr indent="-304800" lvl="1" marL="914400" rtl="0" algn="l">
              <a:spcBef>
                <a:spcPts val="0"/>
              </a:spcBef>
              <a:spcAft>
                <a:spcPts val="0"/>
              </a:spcAft>
              <a:buSzPts val="1200"/>
              <a:buChar char="○"/>
            </a:pPr>
            <a:r>
              <a:rPr b="1" lang="sk"/>
              <a:t>Each checkin</a:t>
            </a:r>
            <a:r>
              <a:rPr lang="sk"/>
              <a:t> version of the overall code has a </a:t>
            </a:r>
            <a:r>
              <a:rPr b="1" lang="sk"/>
              <a:t>copy of each</a:t>
            </a:r>
            <a:r>
              <a:rPr lang="sk"/>
              <a:t> file in it.</a:t>
            </a:r>
            <a:endParaRPr/>
          </a:p>
          <a:p>
            <a:pPr indent="-304800" lvl="1" marL="914400" rtl="0" algn="l">
              <a:spcBef>
                <a:spcPts val="0"/>
              </a:spcBef>
              <a:spcAft>
                <a:spcPts val="0"/>
              </a:spcAft>
              <a:buSzPts val="1200"/>
              <a:buChar char="○"/>
            </a:pPr>
            <a:r>
              <a:rPr lang="sk"/>
              <a:t>Some files change on a given checkin, some do not.</a:t>
            </a:r>
            <a:endParaRPr/>
          </a:p>
          <a:p>
            <a:pPr indent="-304800" lvl="1" marL="914400" rtl="0" algn="l">
              <a:spcBef>
                <a:spcPts val="0"/>
              </a:spcBef>
              <a:spcAft>
                <a:spcPts val="0"/>
              </a:spcAft>
              <a:buSzPts val="1200"/>
              <a:buChar char="○"/>
            </a:pPr>
            <a:r>
              <a:rPr b="1" lang="sk"/>
              <a:t>More redundancy, but faster</a:t>
            </a:r>
            <a:r>
              <a:rPr lang="sk"/>
              <a:t>.</a:t>
            </a:r>
            <a:endParaRPr/>
          </a:p>
        </p:txBody>
      </p:sp>
      <p:pic>
        <p:nvPicPr>
          <p:cNvPr id="113" name="Google Shape;113;p22"/>
          <p:cNvPicPr preferRelativeResize="0"/>
          <p:nvPr/>
        </p:nvPicPr>
        <p:blipFill>
          <a:blip r:embed="rId3">
            <a:alphaModFix/>
          </a:blip>
          <a:stretch>
            <a:fillRect/>
          </a:stretch>
        </p:blipFill>
        <p:spPr>
          <a:xfrm>
            <a:off x="5133414" y="1017725"/>
            <a:ext cx="3116436" cy="3688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What shall be stored into the repository</a:t>
            </a:r>
            <a:endParaRPr/>
          </a:p>
        </p:txBody>
      </p:sp>
      <p:sp>
        <p:nvSpPr>
          <p:cNvPr id="119" name="Google Shape;119;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sk"/>
              <a:t>You should store all files that are not generated by a tool:</a:t>
            </a:r>
            <a:endParaRPr/>
          </a:p>
          <a:p>
            <a:pPr indent="-334328" lvl="0" marL="457200" rtl="0" algn="l">
              <a:spcBef>
                <a:spcPts val="1200"/>
              </a:spcBef>
              <a:spcAft>
                <a:spcPts val="0"/>
              </a:spcAft>
              <a:buSzPct val="100000"/>
              <a:buChar char="●"/>
            </a:pPr>
            <a:r>
              <a:rPr b="1" lang="sk"/>
              <a:t>source files</a:t>
            </a:r>
            <a:r>
              <a:rPr lang="sk"/>
              <a:t> (.c .cpp .java .y .l .tex . . . )</a:t>
            </a:r>
            <a:endParaRPr/>
          </a:p>
          <a:p>
            <a:pPr indent="-334328" lvl="0" marL="457200" rtl="0" algn="l">
              <a:spcBef>
                <a:spcPts val="0"/>
              </a:spcBef>
              <a:spcAft>
                <a:spcPts val="0"/>
              </a:spcAft>
              <a:buSzPct val="100000"/>
              <a:buChar char="●"/>
            </a:pPr>
            <a:r>
              <a:rPr b="1" lang="sk"/>
              <a:t>build scripts / project files</a:t>
            </a:r>
            <a:r>
              <a:rPr lang="sk"/>
              <a:t> (Makefile configure.in Makefile.am CMakefile.txt wscript .sln)</a:t>
            </a:r>
            <a:endParaRPr/>
          </a:p>
          <a:p>
            <a:pPr indent="-334328" lvl="0" marL="457200" rtl="0" algn="l">
              <a:spcBef>
                <a:spcPts val="0"/>
              </a:spcBef>
              <a:spcAft>
                <a:spcPts val="0"/>
              </a:spcAft>
              <a:buSzPct val="100000"/>
              <a:buChar char="●"/>
            </a:pPr>
            <a:r>
              <a:rPr b="1" lang="sk"/>
              <a:t>documentation</a:t>
            </a:r>
            <a:r>
              <a:rPr lang="sk"/>
              <a:t> files (.txt README . . . )</a:t>
            </a:r>
            <a:endParaRPr/>
          </a:p>
          <a:p>
            <a:pPr indent="-334328" lvl="0" marL="457200" rtl="0" algn="l">
              <a:spcBef>
                <a:spcPts val="0"/>
              </a:spcBef>
              <a:spcAft>
                <a:spcPts val="0"/>
              </a:spcAft>
              <a:buSzPct val="100000"/>
              <a:buChar char="●"/>
            </a:pPr>
            <a:r>
              <a:rPr b="1" lang="sk"/>
              <a:t>resource files </a:t>
            </a:r>
            <a:r>
              <a:rPr lang="sk"/>
              <a:t>(images, audio, . . . )</a:t>
            </a:r>
            <a:endParaRPr/>
          </a:p>
          <a:p>
            <a:pPr indent="0" lvl="0" marL="0" rtl="0" algn="l">
              <a:spcBef>
                <a:spcPts val="1200"/>
              </a:spcBef>
              <a:spcAft>
                <a:spcPts val="0"/>
              </a:spcAft>
              <a:buNone/>
            </a:pPr>
            <a:r>
              <a:rPr lang="sk"/>
              <a:t>You should </a:t>
            </a:r>
            <a:r>
              <a:rPr b="1" lang="sk"/>
              <a:t>not</a:t>
            </a:r>
            <a:r>
              <a:rPr lang="sk"/>
              <a:t> </a:t>
            </a:r>
            <a:r>
              <a:rPr b="1" lang="sk"/>
              <a:t>store</a:t>
            </a:r>
            <a:r>
              <a:rPr lang="sk"/>
              <a:t> </a:t>
            </a:r>
            <a:r>
              <a:rPr b="1" lang="sk"/>
              <a:t>generated files</a:t>
            </a:r>
            <a:r>
              <a:rPr lang="sk"/>
              <a:t> (or you will experience many unneccessary conflicts)</a:t>
            </a:r>
            <a:endParaRPr/>
          </a:p>
          <a:p>
            <a:pPr indent="-334328" lvl="0" marL="457200" rtl="0" algn="l">
              <a:spcBef>
                <a:spcPts val="1200"/>
              </a:spcBef>
              <a:spcAft>
                <a:spcPts val="0"/>
              </a:spcAft>
              <a:buSzPct val="100000"/>
              <a:buChar char="●"/>
            </a:pPr>
            <a:r>
              <a:rPr lang="sk"/>
              <a:t>.o .a .so .dll .class .jar .exe .dvi .ps .pdf</a:t>
            </a:r>
            <a:endParaRPr/>
          </a:p>
          <a:p>
            <a:pPr indent="-334328" lvl="0" marL="457200" rtl="0" algn="l">
              <a:spcBef>
                <a:spcPts val="0"/>
              </a:spcBef>
              <a:spcAft>
                <a:spcPts val="0"/>
              </a:spcAft>
              <a:buSzPct val="100000"/>
              <a:buChar char="●"/>
            </a:pPr>
            <a:r>
              <a:rPr lang="sk"/>
              <a:t>source files / build scripts when generated by a tool (like autoconf, cmake, lex, yacc</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D</a:t>
            </a:r>
            <a:r>
              <a:rPr lang="sk"/>
              <a:t>ocumentation</a:t>
            </a:r>
            <a:endParaRPr/>
          </a:p>
        </p:txBody>
      </p:sp>
      <p:sp>
        <p:nvSpPr>
          <p:cNvPr id="125" name="Google Shape;125;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a:t>man git cmd</a:t>
            </a:r>
            <a:endParaRPr/>
          </a:p>
          <a:p>
            <a:pPr indent="-342900" lvl="0" marL="457200" rtl="0" algn="l">
              <a:spcBef>
                <a:spcPts val="0"/>
              </a:spcBef>
              <a:spcAft>
                <a:spcPts val="0"/>
              </a:spcAft>
              <a:buSzPts val="1800"/>
              <a:buChar char="●"/>
            </a:pPr>
            <a:r>
              <a:rPr lang="sk"/>
              <a:t>The Git book</a:t>
            </a:r>
            <a:endParaRPr/>
          </a:p>
          <a:p>
            <a:pPr indent="-317500" lvl="1" marL="914400" rtl="0" algn="l">
              <a:spcBef>
                <a:spcPts val="0"/>
              </a:spcBef>
              <a:spcAft>
                <a:spcPts val="0"/>
              </a:spcAft>
              <a:buSzPts val="1400"/>
              <a:buChar char="○"/>
            </a:pPr>
            <a:r>
              <a:rPr lang="sk" u="sng">
                <a:solidFill>
                  <a:schemeClr val="hlink"/>
                </a:solidFill>
                <a:hlinkClick r:id="rId3"/>
              </a:rPr>
              <a:t>http://git-scm.com/book</a:t>
            </a:r>
            <a:endParaRPr/>
          </a:p>
          <a:p>
            <a:pPr indent="-317500" lvl="1" marL="914400" rtl="0" algn="l">
              <a:spcBef>
                <a:spcPts val="0"/>
              </a:spcBef>
              <a:spcAft>
                <a:spcPts val="0"/>
              </a:spcAft>
              <a:buSzPts val="1400"/>
              <a:buChar char="○"/>
            </a:pPr>
            <a:r>
              <a:rPr lang="sk" u="sng">
                <a:solidFill>
                  <a:schemeClr val="hlink"/>
                </a:solidFill>
                <a:hlinkClick r:id="rId4"/>
              </a:rPr>
              <a:t>https://git-scm.com/book/cs/v2</a:t>
            </a:r>
            <a:endParaRPr/>
          </a:p>
          <a:p>
            <a:pPr indent="-342900" lvl="0" marL="457200" rtl="0" algn="l">
              <a:spcBef>
                <a:spcPts val="0"/>
              </a:spcBef>
              <a:spcAft>
                <a:spcPts val="0"/>
              </a:spcAft>
              <a:buSzPts val="1800"/>
              <a:buChar char="●"/>
            </a:pPr>
            <a:r>
              <a:rPr lang="sk"/>
              <a:t>Atlassian learning materials</a:t>
            </a:r>
            <a:endParaRPr/>
          </a:p>
          <a:p>
            <a:pPr indent="-317500" lvl="1" marL="914400" rtl="0" algn="l">
              <a:spcBef>
                <a:spcPts val="0"/>
              </a:spcBef>
              <a:spcAft>
                <a:spcPts val="0"/>
              </a:spcAft>
              <a:buSzPts val="1400"/>
              <a:buChar char="○"/>
            </a:pPr>
            <a:r>
              <a:rPr lang="sk" u="sng">
                <a:solidFill>
                  <a:schemeClr val="hlink"/>
                </a:solidFill>
                <a:hlinkClick r:id="rId5"/>
              </a:rPr>
              <a:t>https://www.atlassian.com/git</a:t>
            </a:r>
            <a:endParaRPr/>
          </a:p>
          <a:p>
            <a:pPr indent="-342900" lvl="0" marL="457200" rtl="0" algn="l">
              <a:spcBef>
                <a:spcPts val="0"/>
              </a:spcBef>
              <a:spcAft>
                <a:spcPts val="0"/>
              </a:spcAft>
              <a:buSzPts val="1800"/>
              <a:buChar char="●"/>
            </a:pPr>
            <a:r>
              <a:rPr lang="sk" u="sng">
                <a:solidFill>
                  <a:schemeClr val="hlink"/>
                </a:solidFill>
                <a:hlinkClick r:id="rId6"/>
              </a:rPr>
              <a:t>https://www.itnetwork.cz/programovani/git/git-tutorial-zaklady</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Lab</a:t>
            </a:r>
            <a:endParaRPr/>
          </a:p>
        </p:txBody>
      </p:sp>
      <p:sp>
        <p:nvSpPr>
          <p:cNvPr id="131" name="Google Shape;131;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a:t>Git cheat sheet</a:t>
            </a:r>
            <a:endParaRPr/>
          </a:p>
          <a:p>
            <a:pPr indent="-317500" lvl="1" marL="914400" rtl="0" algn="l">
              <a:spcBef>
                <a:spcPts val="0"/>
              </a:spcBef>
              <a:spcAft>
                <a:spcPts val="0"/>
              </a:spcAft>
              <a:buSzPts val="1400"/>
              <a:buChar char="○"/>
            </a:pPr>
            <a:r>
              <a:rPr lang="sk" u="sng">
                <a:solidFill>
                  <a:schemeClr val="accent5"/>
                </a:solidFill>
                <a:hlinkClick r:id="rId3">
                  <a:extLst>
                    <a:ext uri="{A12FA001-AC4F-418D-AE19-62706E023703}">
                      <ahyp:hlinkClr val="tx"/>
                    </a:ext>
                  </a:extLst>
                </a:hlinkClick>
              </a:rPr>
              <a:t>https://wac-cdn.atlassian.com/dam/jcr:e7e22f25-bba2-4ef1-a197-53f46b6df4a5/SWTM-2088_Atlassian-Git-Cheatsheet.pdf?cdnVersion=2491</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sk"/>
              <a:t>Installation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Install Git</a:t>
            </a:r>
            <a:endParaRPr/>
          </a:p>
        </p:txBody>
      </p:sp>
      <p:sp>
        <p:nvSpPr>
          <p:cNvPr id="142" name="Google Shape;142;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a:t>Install Git on Windows</a:t>
            </a:r>
            <a:endParaRPr/>
          </a:p>
          <a:p>
            <a:pPr indent="-317500" lvl="1" marL="914400" rtl="0" algn="l">
              <a:spcBef>
                <a:spcPts val="0"/>
              </a:spcBef>
              <a:spcAft>
                <a:spcPts val="0"/>
              </a:spcAft>
              <a:buSzPts val="1400"/>
              <a:buChar char="○"/>
            </a:pPr>
            <a:r>
              <a:rPr lang="sk" u="sng">
                <a:solidFill>
                  <a:schemeClr val="hlink"/>
                </a:solidFill>
                <a:hlinkClick r:id="rId3"/>
              </a:rPr>
              <a:t>https://gitforwindows.org/</a:t>
            </a:r>
            <a:endParaRPr/>
          </a:p>
          <a:p>
            <a:pPr indent="-317500" lvl="1" marL="914400" rtl="0" algn="l">
              <a:spcBef>
                <a:spcPts val="0"/>
              </a:spcBef>
              <a:spcAft>
                <a:spcPts val="0"/>
              </a:spcAft>
              <a:buSzPts val="1400"/>
              <a:buChar char="○"/>
            </a:pPr>
            <a:r>
              <a:rPr lang="sk" u="sng">
                <a:solidFill>
                  <a:schemeClr val="hlink"/>
                </a:solidFill>
                <a:hlinkClick r:id="rId4"/>
              </a:rPr>
              <a:t>https://github.com/git-for-windows/git/releases/download/v2.54.0.windows.1/PortableGit-2.54.0-64-bit.7z.exe</a:t>
            </a:r>
            <a:endParaRPr/>
          </a:p>
          <a:p>
            <a:pPr indent="-342900" lvl="0" marL="457200" rtl="0" algn="l">
              <a:spcBef>
                <a:spcPts val="0"/>
              </a:spcBef>
              <a:spcAft>
                <a:spcPts val="0"/>
              </a:spcAft>
              <a:buSzPts val="1800"/>
              <a:buChar char="●"/>
            </a:pPr>
            <a:r>
              <a:rPr lang="sk"/>
              <a:t>Install Git on Linux</a:t>
            </a:r>
            <a:endParaRPr/>
          </a:p>
          <a:p>
            <a:pPr indent="-317500" lvl="1" marL="914400" rtl="0" algn="l">
              <a:spcBef>
                <a:spcPts val="0"/>
              </a:spcBef>
              <a:spcAft>
                <a:spcPts val="0"/>
              </a:spcAft>
              <a:buSzPts val="1400"/>
              <a:buChar char="○"/>
            </a:pPr>
            <a:r>
              <a:rPr lang="sk"/>
              <a:t>sudo apt-get update &amp;&amp; apt-get install git</a:t>
            </a:r>
            <a:endParaRPr/>
          </a:p>
          <a:p>
            <a:pPr indent="-317500" lvl="1" marL="914400" rtl="0" algn="l">
              <a:spcBef>
                <a:spcPts val="0"/>
              </a:spcBef>
              <a:spcAft>
                <a:spcPts val="0"/>
              </a:spcAft>
              <a:buSzPts val="1400"/>
              <a:buChar char="○"/>
            </a:pPr>
            <a:r>
              <a:rPr lang="sk"/>
              <a:t>git --version</a:t>
            </a:r>
            <a:endParaRPr/>
          </a:p>
          <a:p>
            <a:pPr indent="-342900" lvl="0" marL="457200" rtl="0" algn="l">
              <a:spcBef>
                <a:spcPts val="0"/>
              </a:spcBef>
              <a:spcAft>
                <a:spcPts val="0"/>
              </a:spcAft>
              <a:buSzPts val="1800"/>
              <a:buChar char="●"/>
            </a:pPr>
            <a:r>
              <a:rPr lang="sk"/>
              <a:t>3rd party GUIs</a:t>
            </a:r>
            <a:endParaRPr/>
          </a:p>
          <a:p>
            <a:pPr indent="-317500" lvl="1" marL="914400" rtl="0" algn="l">
              <a:spcBef>
                <a:spcPts val="0"/>
              </a:spcBef>
              <a:spcAft>
                <a:spcPts val="0"/>
              </a:spcAft>
              <a:buSzPts val="1400"/>
              <a:buChar char="○"/>
            </a:pPr>
            <a:r>
              <a:rPr lang="sk" u="sng">
                <a:solidFill>
                  <a:schemeClr val="hlink"/>
                </a:solidFill>
                <a:hlinkClick r:id="rId5"/>
              </a:rPr>
              <a:t>https://git-scm.com/downloads/guis</a:t>
            </a:r>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Lab</a:t>
            </a:r>
            <a:endParaRPr/>
          </a:p>
        </p:txBody>
      </p:sp>
      <p:sp>
        <p:nvSpPr>
          <p:cNvPr id="148" name="Google Shape;14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a:t>Install git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sk"/>
              <a:t>Working locally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Initial Git configuration</a:t>
            </a:r>
            <a:endParaRPr/>
          </a:p>
        </p:txBody>
      </p:sp>
      <p:sp>
        <p:nvSpPr>
          <p:cNvPr id="159" name="Google Shape;159;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a:t>Set the name and email for Git to use when you commit:</a:t>
            </a:r>
            <a:endParaRPr/>
          </a:p>
          <a:p>
            <a:pPr indent="-317500" lvl="1" marL="914400" rtl="0" algn="l">
              <a:spcBef>
                <a:spcPts val="0"/>
              </a:spcBef>
              <a:spcAft>
                <a:spcPts val="0"/>
              </a:spcAft>
              <a:buSzPts val="1400"/>
              <a:buChar char="○"/>
            </a:pPr>
            <a:r>
              <a:rPr b="1" lang="sk"/>
              <a:t>git config --global user.name "Bugs Bunny"</a:t>
            </a:r>
            <a:endParaRPr b="1"/>
          </a:p>
          <a:p>
            <a:pPr indent="-317500" lvl="1" marL="914400" rtl="0" algn="l">
              <a:spcBef>
                <a:spcPts val="0"/>
              </a:spcBef>
              <a:spcAft>
                <a:spcPts val="0"/>
              </a:spcAft>
              <a:buSzPts val="1400"/>
              <a:buChar char="○"/>
            </a:pPr>
            <a:r>
              <a:rPr b="1" lang="sk"/>
              <a:t>git config --global user.email bugs@gmail.com</a:t>
            </a:r>
            <a:endParaRPr b="1"/>
          </a:p>
          <a:p>
            <a:pPr indent="-317500" lvl="1" marL="914400" rtl="0" algn="l">
              <a:spcBef>
                <a:spcPts val="0"/>
              </a:spcBef>
              <a:spcAft>
                <a:spcPts val="0"/>
              </a:spcAft>
              <a:buSzPts val="1400"/>
              <a:buChar char="○"/>
            </a:pPr>
            <a:r>
              <a:rPr lang="sk"/>
              <a:t>You can call </a:t>
            </a:r>
            <a:r>
              <a:rPr b="1" lang="sk"/>
              <a:t>git config </a:t>
            </a:r>
            <a:r>
              <a:rPr b="1" lang="sk"/>
              <a:t>--</a:t>
            </a:r>
            <a:r>
              <a:rPr b="1" lang="sk"/>
              <a:t>list</a:t>
            </a:r>
            <a:r>
              <a:rPr lang="sk"/>
              <a:t> to verify these are set.</a:t>
            </a:r>
            <a:endParaRPr/>
          </a:p>
          <a:p>
            <a:pPr indent="-342900" lvl="0" marL="457200" rtl="0" algn="l">
              <a:spcBef>
                <a:spcPts val="0"/>
              </a:spcBef>
              <a:spcAft>
                <a:spcPts val="0"/>
              </a:spcAft>
              <a:buSzPts val="1800"/>
              <a:buChar char="●"/>
            </a:pPr>
            <a:r>
              <a:rPr lang="sk"/>
              <a:t>Set the editor that is used for writing commit messages:</a:t>
            </a:r>
            <a:endParaRPr/>
          </a:p>
          <a:p>
            <a:pPr indent="-317500" lvl="1" marL="914400" rtl="0" algn="l">
              <a:spcBef>
                <a:spcPts val="0"/>
              </a:spcBef>
              <a:spcAft>
                <a:spcPts val="0"/>
              </a:spcAft>
              <a:buSzPts val="1400"/>
              <a:buChar char="○"/>
            </a:pPr>
            <a:r>
              <a:rPr b="1" lang="sk"/>
              <a:t>git config --global core.editor nano</a:t>
            </a:r>
            <a:endParaRPr b="1"/>
          </a:p>
          <a:p>
            <a:pPr indent="-317500" lvl="1" marL="914400" rtl="0" algn="l">
              <a:spcBef>
                <a:spcPts val="0"/>
              </a:spcBef>
              <a:spcAft>
                <a:spcPts val="0"/>
              </a:spcAft>
              <a:buSzPts val="1400"/>
              <a:buChar char="○"/>
            </a:pPr>
            <a:r>
              <a:rPr lang="sk"/>
              <a:t>(it is vim by default)</a:t>
            </a:r>
            <a:endParaRPr/>
          </a:p>
          <a:p>
            <a:pPr indent="-342900" lvl="0" marL="457200" rtl="0" algn="l">
              <a:spcBef>
                <a:spcPts val="0"/>
              </a:spcBef>
              <a:spcAft>
                <a:spcPts val="0"/>
              </a:spcAft>
              <a:buSzPts val="1800"/>
              <a:buChar char="●"/>
            </a:pPr>
            <a:r>
              <a:rPr lang="sk"/>
              <a:t>~/.gitconfig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Create a new repository</a:t>
            </a:r>
            <a:endParaRPr/>
          </a:p>
        </p:txBody>
      </p:sp>
      <p:sp>
        <p:nvSpPr>
          <p:cNvPr id="165" name="Google Shape;165;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init myreposit</a:t>
            </a:r>
            <a:endParaRPr b="1"/>
          </a:p>
          <a:p>
            <a:pPr indent="-317500" lvl="1" marL="914400" rtl="0" algn="l">
              <a:spcBef>
                <a:spcPts val="0"/>
              </a:spcBef>
              <a:spcAft>
                <a:spcPts val="0"/>
              </a:spcAft>
              <a:buSzPts val="1400"/>
              <a:buChar char="○"/>
            </a:pPr>
            <a:r>
              <a:rPr lang="sk"/>
              <a:t>This command creates the directory </a:t>
            </a:r>
            <a:r>
              <a:rPr b="1" lang="sk"/>
              <a:t>myrepository</a:t>
            </a:r>
            <a:r>
              <a:rPr lang="sk"/>
              <a:t>.</a:t>
            </a:r>
            <a:endParaRPr/>
          </a:p>
          <a:p>
            <a:pPr indent="-317500" lvl="2" marL="1371600" rtl="0" algn="l">
              <a:spcBef>
                <a:spcPts val="0"/>
              </a:spcBef>
              <a:spcAft>
                <a:spcPts val="0"/>
              </a:spcAft>
              <a:buSzPts val="1400"/>
              <a:buChar char="■"/>
            </a:pPr>
            <a:r>
              <a:rPr lang="sk"/>
              <a:t>the repository is located in </a:t>
            </a:r>
            <a:r>
              <a:rPr b="1" lang="sk"/>
              <a:t>myrepository/.git</a:t>
            </a:r>
            <a:endParaRPr b="1"/>
          </a:p>
          <a:p>
            <a:pPr indent="-317500" lvl="2" marL="1371600" rtl="0" algn="l">
              <a:spcBef>
                <a:spcPts val="0"/>
              </a:spcBef>
              <a:spcAft>
                <a:spcPts val="0"/>
              </a:spcAft>
              <a:buSzPts val="1400"/>
              <a:buChar char="■"/>
            </a:pPr>
            <a:r>
              <a:rPr lang="sk"/>
              <a:t>the (initially empty) working copy is located in myrepository/</a:t>
            </a:r>
            <a:endParaRPr/>
          </a:p>
          <a:p>
            <a:pPr indent="-317500" lvl="2" marL="1371600" rtl="0" algn="l">
              <a:spcBef>
                <a:spcPts val="0"/>
              </a:spcBef>
              <a:spcAft>
                <a:spcPts val="0"/>
              </a:spcAft>
              <a:buSzPts val="1400"/>
              <a:buChar char="■"/>
            </a:pPr>
            <a:r>
              <a:rPr lang="sk"/>
              <a:t>The </a:t>
            </a:r>
            <a:r>
              <a:rPr b="1" lang="sk"/>
              <a:t>/.git/</a:t>
            </a:r>
            <a:r>
              <a:rPr lang="sk"/>
              <a:t> directory contains your whole history, </a:t>
            </a:r>
            <a:r>
              <a:rPr b="1" lang="sk"/>
              <a:t>do not delete it</a:t>
            </a:r>
            <a:endParaRPr b="1"/>
          </a:p>
          <a:p>
            <a:pPr indent="0" lvl="0" marL="0" rtl="0" algn="l">
              <a:spcBef>
                <a:spcPts val="1200"/>
              </a:spcBef>
              <a:spcAft>
                <a:spcPts val="1200"/>
              </a:spcAft>
              <a:buNone/>
            </a:pPr>
            <a:r>
              <a:t/>
            </a:r>
            <a:endParaRPr b="1"/>
          </a:p>
        </p:txBody>
      </p:sp>
      <p:pic>
        <p:nvPicPr>
          <p:cNvPr id="166" name="Google Shape;166;p31"/>
          <p:cNvPicPr preferRelativeResize="0"/>
          <p:nvPr/>
        </p:nvPicPr>
        <p:blipFill>
          <a:blip r:embed="rId3">
            <a:alphaModFix/>
          </a:blip>
          <a:stretch>
            <a:fillRect/>
          </a:stretch>
        </p:blipFill>
        <p:spPr>
          <a:xfrm>
            <a:off x="0" y="2774075"/>
            <a:ext cx="9144000" cy="2304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Commit your first file</a:t>
            </a:r>
            <a:endParaRPr/>
          </a:p>
        </p:txBody>
      </p:sp>
      <p:sp>
        <p:nvSpPr>
          <p:cNvPr id="172" name="Google Shape;172;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add file</a:t>
            </a:r>
            <a:endParaRPr b="1"/>
          </a:p>
          <a:p>
            <a:pPr indent="-342900" lvl="0" marL="457200" rtl="0" algn="l">
              <a:spcBef>
                <a:spcPts val="0"/>
              </a:spcBef>
              <a:spcAft>
                <a:spcPts val="0"/>
              </a:spcAft>
              <a:buSzPts val="1800"/>
              <a:buChar char="●"/>
            </a:pPr>
            <a:r>
              <a:rPr b="1" lang="sk"/>
              <a:t>git commit [ -m message ]</a:t>
            </a:r>
            <a:endParaRPr b="1"/>
          </a:p>
        </p:txBody>
      </p:sp>
      <p:pic>
        <p:nvPicPr>
          <p:cNvPr id="173" name="Google Shape;173;p32"/>
          <p:cNvPicPr preferRelativeResize="0"/>
          <p:nvPr/>
        </p:nvPicPr>
        <p:blipFill>
          <a:blip r:embed="rId3">
            <a:alphaModFix/>
          </a:blip>
          <a:stretch>
            <a:fillRect/>
          </a:stretch>
        </p:blipFill>
        <p:spPr>
          <a:xfrm>
            <a:off x="0" y="1922705"/>
            <a:ext cx="9143999" cy="214814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T</a:t>
            </a:r>
            <a:r>
              <a:rPr lang="sk"/>
              <a:t>he staging area (aka the “index”)</a:t>
            </a:r>
            <a:endParaRPr/>
          </a:p>
        </p:txBody>
      </p:sp>
      <p:sp>
        <p:nvSpPr>
          <p:cNvPr id="179" name="Google Shape;179;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sk"/>
              <a:t>Usual version control systems provide two spaces:</a:t>
            </a:r>
            <a:endParaRPr/>
          </a:p>
          <a:p>
            <a:pPr indent="-342900" lvl="0" marL="457200" rtl="0" algn="l">
              <a:spcBef>
                <a:spcPts val="1200"/>
              </a:spcBef>
              <a:spcAft>
                <a:spcPts val="0"/>
              </a:spcAft>
              <a:buSzPts val="1800"/>
              <a:buChar char="●"/>
            </a:pPr>
            <a:r>
              <a:rPr lang="sk"/>
              <a:t>the </a:t>
            </a:r>
            <a:r>
              <a:rPr b="1" lang="sk"/>
              <a:t>repository</a:t>
            </a:r>
            <a:r>
              <a:rPr lang="sk"/>
              <a:t> (the whole history of your project)</a:t>
            </a:r>
            <a:endParaRPr/>
          </a:p>
          <a:p>
            <a:pPr indent="-342900" lvl="0" marL="457200" rtl="0" algn="l">
              <a:spcBef>
                <a:spcPts val="0"/>
              </a:spcBef>
              <a:spcAft>
                <a:spcPts val="0"/>
              </a:spcAft>
              <a:buSzPts val="1800"/>
              <a:buChar char="●"/>
            </a:pPr>
            <a:r>
              <a:rPr lang="sk"/>
              <a:t>the </a:t>
            </a:r>
            <a:r>
              <a:rPr b="1" lang="sk"/>
              <a:t>working tree</a:t>
            </a:r>
            <a:r>
              <a:rPr lang="sk"/>
              <a:t> (or </a:t>
            </a:r>
            <a:r>
              <a:rPr b="1" lang="sk"/>
              <a:t>local copy</a:t>
            </a:r>
            <a:r>
              <a:rPr lang="sk"/>
              <a:t>), (the files you are editing and that will be in the next commit)</a:t>
            </a:r>
            <a:endParaRPr/>
          </a:p>
          <a:p>
            <a:pPr indent="0" lvl="0" marL="0" rtl="0" algn="l">
              <a:spcBef>
                <a:spcPts val="1200"/>
              </a:spcBef>
              <a:spcAft>
                <a:spcPts val="0"/>
              </a:spcAft>
              <a:buNone/>
            </a:pPr>
            <a:r>
              <a:rPr lang="sk"/>
              <a:t>Git introduces an intermediate space : the </a:t>
            </a:r>
            <a:r>
              <a:rPr b="1" lang="sk"/>
              <a:t>staging area</a:t>
            </a:r>
            <a:r>
              <a:rPr lang="sk"/>
              <a:t> (also called </a:t>
            </a:r>
            <a:r>
              <a:rPr b="1" lang="sk"/>
              <a:t>index</a:t>
            </a:r>
            <a:r>
              <a:rPr lang="sk"/>
              <a:t>)</a:t>
            </a:r>
            <a:endParaRPr/>
          </a:p>
          <a:p>
            <a:pPr indent="-342900" lvl="0" marL="457200" rtl="0" algn="l">
              <a:spcBef>
                <a:spcPts val="1200"/>
              </a:spcBef>
              <a:spcAft>
                <a:spcPts val="0"/>
              </a:spcAft>
              <a:buSzPts val="1800"/>
              <a:buChar char="●"/>
            </a:pPr>
            <a:r>
              <a:rPr lang="sk"/>
              <a:t>The index stores the files scheduled for the next commit</a:t>
            </a:r>
            <a:endParaRPr/>
          </a:p>
          <a:p>
            <a:pPr indent="-317500" lvl="1" marL="914400" rtl="0" algn="l">
              <a:spcBef>
                <a:spcPts val="0"/>
              </a:spcBef>
              <a:spcAft>
                <a:spcPts val="0"/>
              </a:spcAft>
              <a:buSzPts val="1400"/>
              <a:buChar char="○"/>
            </a:pPr>
            <a:r>
              <a:rPr b="1" lang="sk"/>
              <a:t>git add files</a:t>
            </a:r>
            <a:r>
              <a:rPr lang="sk"/>
              <a:t> → copy files into the index</a:t>
            </a:r>
            <a:endParaRPr/>
          </a:p>
          <a:p>
            <a:pPr indent="-317500" lvl="1" marL="914400" rtl="0" algn="l">
              <a:spcBef>
                <a:spcPts val="0"/>
              </a:spcBef>
              <a:spcAft>
                <a:spcPts val="0"/>
              </a:spcAft>
              <a:buSzPts val="1400"/>
              <a:buChar char="○"/>
            </a:pPr>
            <a:r>
              <a:rPr b="1" lang="sk"/>
              <a:t>git commit</a:t>
            </a:r>
            <a:r>
              <a:rPr lang="sk"/>
              <a:t> → commits the content of the index</a:t>
            </a:r>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The staging area (aka the “index”)</a:t>
            </a:r>
            <a:endParaRPr/>
          </a:p>
        </p:txBody>
      </p:sp>
      <p:pic>
        <p:nvPicPr>
          <p:cNvPr id="185" name="Google Shape;185;p34"/>
          <p:cNvPicPr preferRelativeResize="0"/>
          <p:nvPr/>
        </p:nvPicPr>
        <p:blipFill>
          <a:blip r:embed="rId3">
            <a:alphaModFix/>
          </a:blip>
          <a:stretch>
            <a:fillRect/>
          </a:stretch>
        </p:blipFill>
        <p:spPr>
          <a:xfrm>
            <a:off x="1528401" y="1144925"/>
            <a:ext cx="6087201" cy="3687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Update a file</a:t>
            </a:r>
            <a:endParaRPr/>
          </a:p>
        </p:txBody>
      </p:sp>
      <p:sp>
        <p:nvSpPr>
          <p:cNvPr id="191" name="Google Shape;191;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sk"/>
              <a:t>Git complains because the index is unchanged (nothing to commit)</a:t>
            </a:r>
            <a:endParaRPr/>
          </a:p>
          <a:p>
            <a:pPr indent="0" lvl="0" marL="0" rtl="0" algn="l">
              <a:spcBef>
                <a:spcPts val="1200"/>
              </a:spcBef>
              <a:spcAft>
                <a:spcPts val="0"/>
              </a:spcAft>
              <a:buNone/>
            </a:pPr>
            <a:r>
              <a:rPr lang="sk"/>
              <a:t>→ We need to run </a:t>
            </a:r>
            <a:r>
              <a:rPr b="1" lang="sk"/>
              <a:t>git add</a:t>
            </a:r>
            <a:r>
              <a:rPr lang="sk"/>
              <a:t> to copy the file into the index</a:t>
            </a:r>
            <a:endParaRPr/>
          </a:p>
          <a:p>
            <a:pPr indent="0" lvl="0" marL="0" rtl="0" algn="l">
              <a:spcBef>
                <a:spcPts val="1200"/>
              </a:spcBef>
              <a:spcAft>
                <a:spcPts val="1200"/>
              </a:spcAft>
              <a:buNone/>
            </a:pPr>
            <a:r>
              <a:t/>
            </a:r>
            <a:endParaRPr/>
          </a:p>
        </p:txBody>
      </p:sp>
      <p:pic>
        <p:nvPicPr>
          <p:cNvPr id="192" name="Google Shape;192;p35"/>
          <p:cNvPicPr preferRelativeResize="0"/>
          <p:nvPr/>
        </p:nvPicPr>
        <p:blipFill>
          <a:blip r:embed="rId3">
            <a:alphaModFix/>
          </a:blip>
          <a:stretch>
            <a:fillRect/>
          </a:stretch>
        </p:blipFill>
        <p:spPr>
          <a:xfrm>
            <a:off x="666350" y="1152475"/>
            <a:ext cx="7717650" cy="1809725"/>
          </a:xfrm>
          <a:prstGeom prst="rect">
            <a:avLst/>
          </a:prstGeom>
          <a:noFill/>
          <a:ln>
            <a:noFill/>
          </a:ln>
        </p:spPr>
      </p:pic>
      <p:pic>
        <p:nvPicPr>
          <p:cNvPr id="193" name="Google Shape;193;p35"/>
          <p:cNvPicPr preferRelativeResize="0"/>
          <p:nvPr/>
        </p:nvPicPr>
        <p:blipFill>
          <a:blip r:embed="rId4">
            <a:alphaModFix/>
          </a:blip>
          <a:stretch>
            <a:fillRect/>
          </a:stretch>
        </p:blipFill>
        <p:spPr>
          <a:xfrm>
            <a:off x="666350" y="3875449"/>
            <a:ext cx="7717649" cy="1184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Bypassing the index</a:t>
            </a:r>
            <a:endParaRPr/>
          </a:p>
        </p:txBody>
      </p:sp>
      <p:sp>
        <p:nvSpPr>
          <p:cNvPr id="199" name="Google Shape;199;p3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sk"/>
              <a:t>Running git add &amp; git commit for every iteration is tedious. GIT provides a way to bypass the index</a:t>
            </a:r>
            <a:endParaRPr/>
          </a:p>
          <a:p>
            <a:pPr indent="-317500" lvl="0" marL="457200" rtl="0" algn="l">
              <a:spcBef>
                <a:spcPts val="1200"/>
              </a:spcBef>
              <a:spcAft>
                <a:spcPts val="0"/>
              </a:spcAft>
              <a:buSzPts val="1400"/>
              <a:buChar char="●"/>
            </a:pPr>
            <a:r>
              <a:rPr b="1" lang="sk"/>
              <a:t>git commit file1 [ file2 . . .]</a:t>
            </a:r>
            <a:endParaRPr b="1"/>
          </a:p>
          <a:p>
            <a:pPr indent="-317500" lvl="0" marL="457200" rtl="0" algn="l">
              <a:spcBef>
                <a:spcPts val="0"/>
              </a:spcBef>
              <a:spcAft>
                <a:spcPts val="0"/>
              </a:spcAft>
              <a:buSzPts val="1400"/>
              <a:buChar char="●"/>
            </a:pPr>
            <a:r>
              <a:rPr lang="sk"/>
              <a:t>This command commits files (or dirs) directly from the working tree</a:t>
            </a:r>
            <a:endParaRPr/>
          </a:p>
        </p:txBody>
      </p:sp>
      <p:pic>
        <p:nvPicPr>
          <p:cNvPr id="200" name="Google Shape;200;p36"/>
          <p:cNvPicPr preferRelativeResize="0"/>
          <p:nvPr/>
        </p:nvPicPr>
        <p:blipFill>
          <a:blip r:embed="rId3">
            <a:alphaModFix/>
          </a:blip>
          <a:stretch>
            <a:fillRect/>
          </a:stretch>
        </p:blipFill>
        <p:spPr>
          <a:xfrm>
            <a:off x="4336100" y="1159978"/>
            <a:ext cx="4496201" cy="34734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Deleting files</a:t>
            </a:r>
            <a:endParaRPr/>
          </a:p>
        </p:txBody>
      </p:sp>
      <p:sp>
        <p:nvSpPr>
          <p:cNvPr id="206" name="Google Shape;206;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rm file</a:t>
            </a:r>
            <a:endParaRPr b="1"/>
          </a:p>
          <a:p>
            <a:pPr indent="-317500" lvl="1" marL="914400" rtl="0" algn="l">
              <a:spcBef>
                <a:spcPts val="0"/>
              </a:spcBef>
              <a:spcAft>
                <a:spcPts val="0"/>
              </a:spcAft>
              <a:buSzPts val="1400"/>
              <a:buChar char="○"/>
            </a:pPr>
            <a:r>
              <a:rPr lang="sk"/>
              <a:t>remove the file from the index and from the working copy</a:t>
            </a:r>
            <a:endParaRPr/>
          </a:p>
          <a:p>
            <a:pPr indent="-342900" lvl="0" marL="457200" rtl="0" algn="l">
              <a:spcBef>
                <a:spcPts val="0"/>
              </a:spcBef>
              <a:spcAft>
                <a:spcPts val="0"/>
              </a:spcAft>
              <a:buSzPts val="1800"/>
              <a:buChar char="●"/>
            </a:pPr>
            <a:r>
              <a:rPr b="1" lang="sk"/>
              <a:t>git commit</a:t>
            </a:r>
            <a:endParaRPr b="1"/>
          </a:p>
          <a:p>
            <a:pPr indent="-317500" lvl="1" marL="914400" rtl="0" algn="l">
              <a:spcBef>
                <a:spcPts val="0"/>
              </a:spcBef>
              <a:spcAft>
                <a:spcPts val="0"/>
              </a:spcAft>
              <a:buSzPts val="1400"/>
              <a:buChar char="○"/>
            </a:pPr>
            <a:r>
              <a:rPr lang="sk"/>
              <a:t>commit the index</a:t>
            </a:r>
            <a:endParaRPr/>
          </a:p>
        </p:txBody>
      </p:sp>
      <p:pic>
        <p:nvPicPr>
          <p:cNvPr id="207" name="Google Shape;207;p37"/>
          <p:cNvPicPr preferRelativeResize="0"/>
          <p:nvPr/>
        </p:nvPicPr>
        <p:blipFill>
          <a:blip r:embed="rId3">
            <a:alphaModFix/>
          </a:blip>
          <a:stretch>
            <a:fillRect/>
          </a:stretch>
        </p:blipFill>
        <p:spPr>
          <a:xfrm>
            <a:off x="0" y="2571742"/>
            <a:ext cx="9144000" cy="191701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Local git areas</a:t>
            </a:r>
            <a:endParaRPr/>
          </a:p>
        </p:txBody>
      </p:sp>
      <p:sp>
        <p:nvSpPr>
          <p:cNvPr id="213" name="Google Shape;213;p3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sk"/>
              <a:t>In your local copy on git, files can be:</a:t>
            </a:r>
            <a:endParaRPr/>
          </a:p>
          <a:p>
            <a:pPr indent="-304800" lvl="1" marL="914400" rtl="0" algn="l">
              <a:spcBef>
                <a:spcPts val="0"/>
              </a:spcBef>
              <a:spcAft>
                <a:spcPts val="0"/>
              </a:spcAft>
              <a:buSzPts val="1200"/>
              <a:buChar char="○"/>
            </a:pPr>
            <a:r>
              <a:rPr lang="sk"/>
              <a:t>In your local repo</a:t>
            </a:r>
            <a:endParaRPr/>
          </a:p>
          <a:p>
            <a:pPr indent="-304800" lvl="2" marL="1371600" rtl="0" algn="l">
              <a:spcBef>
                <a:spcPts val="0"/>
              </a:spcBef>
              <a:spcAft>
                <a:spcPts val="0"/>
              </a:spcAft>
              <a:buSzPts val="1200"/>
              <a:buChar char="■"/>
            </a:pPr>
            <a:r>
              <a:rPr lang="sk"/>
              <a:t>(</a:t>
            </a:r>
            <a:r>
              <a:rPr b="1" lang="sk"/>
              <a:t>committed</a:t>
            </a:r>
            <a:r>
              <a:rPr lang="sk"/>
              <a:t>)</a:t>
            </a:r>
            <a:endParaRPr/>
          </a:p>
          <a:p>
            <a:pPr indent="-304800" lvl="1" marL="914400" rtl="0" algn="l">
              <a:spcBef>
                <a:spcPts val="0"/>
              </a:spcBef>
              <a:spcAft>
                <a:spcPts val="0"/>
              </a:spcAft>
              <a:buSzPts val="1200"/>
              <a:buChar char="○"/>
            </a:pPr>
            <a:r>
              <a:rPr lang="sk"/>
              <a:t>Checked out and modified, but not yet committed</a:t>
            </a:r>
            <a:endParaRPr/>
          </a:p>
          <a:p>
            <a:pPr indent="-304800" lvl="2" marL="1371600" rtl="0" algn="l">
              <a:spcBef>
                <a:spcPts val="0"/>
              </a:spcBef>
              <a:spcAft>
                <a:spcPts val="0"/>
              </a:spcAft>
              <a:buSzPts val="1200"/>
              <a:buChar char="■"/>
            </a:pPr>
            <a:r>
              <a:rPr lang="sk"/>
              <a:t>(</a:t>
            </a:r>
            <a:r>
              <a:rPr b="1" lang="sk"/>
              <a:t>working copy</a:t>
            </a:r>
            <a:r>
              <a:rPr lang="sk"/>
              <a:t>)</a:t>
            </a:r>
            <a:endParaRPr/>
          </a:p>
          <a:p>
            <a:pPr indent="-304800" lvl="1" marL="914400" rtl="0" algn="l">
              <a:spcBef>
                <a:spcPts val="0"/>
              </a:spcBef>
              <a:spcAft>
                <a:spcPts val="0"/>
              </a:spcAft>
              <a:buSzPts val="1200"/>
              <a:buChar char="○"/>
            </a:pPr>
            <a:r>
              <a:rPr lang="sk"/>
              <a:t>Or, in-between, in a "</a:t>
            </a:r>
            <a:r>
              <a:rPr b="1" lang="sk"/>
              <a:t>staging/index</a:t>
            </a:r>
            <a:r>
              <a:rPr lang="sk"/>
              <a:t>" area</a:t>
            </a:r>
            <a:endParaRPr/>
          </a:p>
          <a:p>
            <a:pPr indent="-304800" lvl="2" marL="1371600" rtl="0" algn="l">
              <a:spcBef>
                <a:spcPts val="0"/>
              </a:spcBef>
              <a:spcAft>
                <a:spcPts val="0"/>
              </a:spcAft>
              <a:buSzPts val="1200"/>
              <a:buChar char="■"/>
            </a:pPr>
            <a:r>
              <a:rPr b="1" lang="sk"/>
              <a:t>Staged files</a:t>
            </a:r>
            <a:r>
              <a:rPr lang="sk"/>
              <a:t> are ready to be committed.</a:t>
            </a:r>
            <a:endParaRPr/>
          </a:p>
          <a:p>
            <a:pPr indent="-304800" lvl="2" marL="1371600" rtl="0" algn="l">
              <a:spcBef>
                <a:spcPts val="0"/>
              </a:spcBef>
              <a:spcAft>
                <a:spcPts val="0"/>
              </a:spcAft>
              <a:buSzPts val="1200"/>
              <a:buChar char="■"/>
            </a:pPr>
            <a:r>
              <a:rPr lang="sk"/>
              <a:t>A commit saves a snapshot of all staged state.</a:t>
            </a:r>
            <a:endParaRPr/>
          </a:p>
        </p:txBody>
      </p:sp>
      <p:pic>
        <p:nvPicPr>
          <p:cNvPr id="214" name="Google Shape;214;p38"/>
          <p:cNvPicPr preferRelativeResize="0"/>
          <p:nvPr/>
        </p:nvPicPr>
        <p:blipFill>
          <a:blip r:embed="rId3">
            <a:alphaModFix/>
          </a:blip>
          <a:stretch>
            <a:fillRect/>
          </a:stretch>
        </p:blipFill>
        <p:spPr>
          <a:xfrm>
            <a:off x="4832400" y="1201388"/>
            <a:ext cx="3611225" cy="33185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Basic Git workflow</a:t>
            </a:r>
            <a:endParaRPr/>
          </a:p>
        </p:txBody>
      </p:sp>
      <p:sp>
        <p:nvSpPr>
          <p:cNvPr id="220" name="Google Shape;220;p3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b="1" lang="sk"/>
              <a:t>Modify</a:t>
            </a:r>
            <a:r>
              <a:rPr lang="sk"/>
              <a:t> files in your working directory</a:t>
            </a:r>
            <a:endParaRPr/>
          </a:p>
          <a:p>
            <a:pPr indent="-317500" lvl="0" marL="457200" rtl="0" algn="l">
              <a:spcBef>
                <a:spcPts val="0"/>
              </a:spcBef>
              <a:spcAft>
                <a:spcPts val="0"/>
              </a:spcAft>
              <a:buSzPts val="1400"/>
              <a:buChar char="●"/>
            </a:pPr>
            <a:r>
              <a:rPr b="1" lang="sk"/>
              <a:t>Stage</a:t>
            </a:r>
            <a:r>
              <a:rPr lang="sk"/>
              <a:t> files, adding snapshots of them to your staging area</a:t>
            </a:r>
            <a:endParaRPr/>
          </a:p>
          <a:p>
            <a:pPr indent="-317500" lvl="0" marL="457200" rtl="0" algn="l">
              <a:spcBef>
                <a:spcPts val="0"/>
              </a:spcBef>
              <a:spcAft>
                <a:spcPts val="0"/>
              </a:spcAft>
              <a:buSzPts val="1400"/>
              <a:buChar char="●"/>
            </a:pPr>
            <a:r>
              <a:rPr b="1" lang="sk"/>
              <a:t>Commit</a:t>
            </a:r>
            <a:r>
              <a:rPr lang="sk"/>
              <a:t>, which takes the files in the staging area and stores that snapshot permanently to your Git directory.</a:t>
            </a:r>
            <a:endParaRPr/>
          </a:p>
        </p:txBody>
      </p:sp>
      <p:pic>
        <p:nvPicPr>
          <p:cNvPr id="221" name="Google Shape;221;p39"/>
          <p:cNvPicPr preferRelativeResize="0"/>
          <p:nvPr/>
        </p:nvPicPr>
        <p:blipFill>
          <a:blip r:embed="rId3">
            <a:alphaModFix/>
          </a:blip>
          <a:stretch>
            <a:fillRect/>
          </a:stretch>
        </p:blipFill>
        <p:spPr>
          <a:xfrm>
            <a:off x="4384696" y="1660571"/>
            <a:ext cx="4759301" cy="27243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Showing differences</a:t>
            </a:r>
            <a:endParaRPr/>
          </a:p>
        </p:txBody>
      </p:sp>
      <p:sp>
        <p:nvSpPr>
          <p:cNvPr id="227" name="Google Shape;227;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diff [ rev a [ rev b ] ] [ -- path . . . ]</a:t>
            </a:r>
            <a:endParaRPr b="1"/>
          </a:p>
          <a:p>
            <a:pPr indent="-317500" lvl="1" marL="914400" rtl="0" algn="l">
              <a:spcBef>
                <a:spcPts val="0"/>
              </a:spcBef>
              <a:spcAft>
                <a:spcPts val="0"/>
              </a:spcAft>
              <a:buSzPts val="1400"/>
              <a:buChar char="○"/>
            </a:pPr>
            <a:r>
              <a:rPr lang="sk"/>
              <a:t>shows the differences between two revisions rev a and rev b (in a format suitable for the patch utility)</a:t>
            </a:r>
            <a:endParaRPr/>
          </a:p>
          <a:p>
            <a:pPr indent="-317500" lvl="1" marL="914400" rtl="0" algn="l">
              <a:spcBef>
                <a:spcPts val="0"/>
              </a:spcBef>
              <a:spcAft>
                <a:spcPts val="0"/>
              </a:spcAft>
              <a:buSzPts val="1400"/>
              <a:buChar char="○"/>
            </a:pPr>
            <a:r>
              <a:rPr lang="sk"/>
              <a:t>by default rev a is the </a:t>
            </a:r>
            <a:r>
              <a:rPr b="1" lang="sk"/>
              <a:t>index</a:t>
            </a:r>
            <a:endParaRPr b="1"/>
          </a:p>
          <a:p>
            <a:pPr indent="-317500" lvl="1" marL="914400" rtl="0" algn="l">
              <a:spcBef>
                <a:spcPts val="0"/>
              </a:spcBef>
              <a:spcAft>
                <a:spcPts val="0"/>
              </a:spcAft>
              <a:buSzPts val="1400"/>
              <a:buChar char="○"/>
            </a:pPr>
            <a:r>
              <a:rPr lang="sk"/>
              <a:t>by default rev b is the </a:t>
            </a:r>
            <a:r>
              <a:rPr b="1" lang="sk"/>
              <a:t>working copy</a:t>
            </a:r>
            <a:endParaRPr b="1"/>
          </a:p>
          <a:p>
            <a:pPr indent="-342900" lvl="0" marL="457200" rtl="0" algn="l">
              <a:spcBef>
                <a:spcPts val="0"/>
              </a:spcBef>
              <a:spcAft>
                <a:spcPts val="0"/>
              </a:spcAft>
              <a:buSzPts val="1800"/>
              <a:buChar char="●"/>
            </a:pPr>
            <a:r>
              <a:rPr b="1" lang="sk"/>
              <a:t>git diff --staged [ rev a ] [ -- path . . . ]</a:t>
            </a:r>
            <a:endParaRPr b="1"/>
          </a:p>
          <a:p>
            <a:pPr indent="-317500" lvl="1" marL="914400" rtl="0" algn="l">
              <a:spcBef>
                <a:spcPts val="0"/>
              </a:spcBef>
              <a:spcAft>
                <a:spcPts val="0"/>
              </a:spcAft>
              <a:buSzPts val="1400"/>
              <a:buChar char="○"/>
            </a:pPr>
            <a:r>
              <a:rPr lang="sk"/>
              <a:t>shows the </a:t>
            </a:r>
            <a:r>
              <a:rPr b="1" lang="sk"/>
              <a:t>differences</a:t>
            </a:r>
            <a:r>
              <a:rPr lang="sk"/>
              <a:t> between </a:t>
            </a:r>
            <a:r>
              <a:rPr b="1" lang="sk"/>
              <a:t>rev a and the index</a:t>
            </a:r>
            <a:endParaRPr b="1"/>
          </a:p>
          <a:p>
            <a:pPr indent="-317500" lvl="1" marL="914400" rtl="0" algn="l">
              <a:spcBef>
                <a:spcPts val="0"/>
              </a:spcBef>
              <a:spcAft>
                <a:spcPts val="0"/>
              </a:spcAft>
              <a:buSzPts val="1400"/>
              <a:buChar char="○"/>
            </a:pPr>
            <a:r>
              <a:rPr lang="sk"/>
              <a:t>by default </a:t>
            </a:r>
            <a:r>
              <a:rPr b="1" lang="sk"/>
              <a:t>rev a is HEAD</a:t>
            </a:r>
            <a:r>
              <a:rPr lang="sk"/>
              <a:t> (a symbolic references pointing to the last commit)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About git diff and the index</a:t>
            </a:r>
            <a:endParaRPr/>
          </a:p>
        </p:txBody>
      </p:sp>
      <p:sp>
        <p:nvSpPr>
          <p:cNvPr id="233" name="Google Shape;233;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4" name="Google Shape;234;p41"/>
          <p:cNvPicPr preferRelativeResize="0"/>
          <p:nvPr/>
        </p:nvPicPr>
        <p:blipFill>
          <a:blip r:embed="rId3">
            <a:alphaModFix/>
          </a:blip>
          <a:stretch>
            <a:fillRect/>
          </a:stretch>
        </p:blipFill>
        <p:spPr>
          <a:xfrm>
            <a:off x="997725" y="1334474"/>
            <a:ext cx="7148551" cy="28531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Diff example</a:t>
            </a:r>
            <a:endParaRPr/>
          </a:p>
        </p:txBody>
      </p:sp>
      <p:sp>
        <p:nvSpPr>
          <p:cNvPr id="240" name="Google Shape;240;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1" name="Google Shape;241;p42"/>
          <p:cNvPicPr preferRelativeResize="0"/>
          <p:nvPr/>
        </p:nvPicPr>
        <p:blipFill>
          <a:blip r:embed="rId3">
            <a:alphaModFix/>
          </a:blip>
          <a:stretch>
            <a:fillRect/>
          </a:stretch>
        </p:blipFill>
        <p:spPr>
          <a:xfrm>
            <a:off x="1824375" y="1152475"/>
            <a:ext cx="5495250" cy="388352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Other local commands</a:t>
            </a:r>
            <a:endParaRPr/>
          </a:p>
        </p:txBody>
      </p:sp>
      <p:sp>
        <p:nvSpPr>
          <p:cNvPr id="247" name="Google Shape;247;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status</a:t>
            </a:r>
            <a:endParaRPr b="1"/>
          </a:p>
          <a:p>
            <a:pPr indent="-317500" lvl="1" marL="914400" rtl="0" algn="l">
              <a:spcBef>
                <a:spcPts val="0"/>
              </a:spcBef>
              <a:spcAft>
                <a:spcPts val="0"/>
              </a:spcAft>
              <a:buSzPts val="1400"/>
              <a:buChar char="○"/>
            </a:pPr>
            <a:r>
              <a:rPr lang="sk"/>
              <a:t>show the status of the </a:t>
            </a:r>
            <a:r>
              <a:rPr b="1" lang="sk"/>
              <a:t>index</a:t>
            </a:r>
            <a:r>
              <a:rPr lang="sk"/>
              <a:t> and </a:t>
            </a:r>
            <a:r>
              <a:rPr b="1" lang="sk"/>
              <a:t>working copy</a:t>
            </a:r>
            <a:endParaRPr b="1"/>
          </a:p>
          <a:p>
            <a:pPr indent="-342900" lvl="0" marL="457200" rtl="0" algn="l">
              <a:spcBef>
                <a:spcPts val="0"/>
              </a:spcBef>
              <a:spcAft>
                <a:spcPts val="0"/>
              </a:spcAft>
              <a:buSzPts val="1800"/>
              <a:buChar char="●"/>
            </a:pPr>
            <a:r>
              <a:rPr b="1" lang="sk"/>
              <a:t>git show [file]</a:t>
            </a:r>
            <a:endParaRPr b="1"/>
          </a:p>
          <a:p>
            <a:pPr indent="-317500" lvl="1" marL="914400" rtl="0" algn="l">
              <a:spcBef>
                <a:spcPts val="0"/>
              </a:spcBef>
              <a:spcAft>
                <a:spcPts val="0"/>
              </a:spcAft>
              <a:buSzPts val="1400"/>
              <a:buChar char="○"/>
            </a:pPr>
            <a:r>
              <a:rPr lang="sk"/>
              <a:t>show the details of a commit (metadata + diff)</a:t>
            </a:r>
            <a:endParaRPr/>
          </a:p>
          <a:p>
            <a:pPr indent="-342900" lvl="0" marL="457200" rtl="0" algn="l">
              <a:spcBef>
                <a:spcPts val="0"/>
              </a:spcBef>
              <a:spcAft>
                <a:spcPts val="0"/>
              </a:spcAft>
              <a:buSzPts val="1800"/>
              <a:buChar char="●"/>
            </a:pPr>
            <a:r>
              <a:rPr b="1" lang="sk"/>
              <a:t>git log [--oneline]</a:t>
            </a:r>
            <a:endParaRPr b="1"/>
          </a:p>
          <a:p>
            <a:pPr indent="-317500" lvl="1" marL="914400" rtl="0" algn="l">
              <a:spcBef>
                <a:spcPts val="0"/>
              </a:spcBef>
              <a:spcAft>
                <a:spcPts val="0"/>
              </a:spcAft>
              <a:buSzPts val="1400"/>
              <a:buChar char="○"/>
            </a:pPr>
            <a:r>
              <a:rPr lang="sk"/>
              <a:t>show the history</a:t>
            </a:r>
            <a:endParaRPr/>
          </a:p>
          <a:p>
            <a:pPr indent="-342900" lvl="0" marL="457200" rtl="0" algn="l">
              <a:spcBef>
                <a:spcPts val="0"/>
              </a:spcBef>
              <a:spcAft>
                <a:spcPts val="0"/>
              </a:spcAft>
              <a:buSzPts val="1800"/>
              <a:buChar char="●"/>
            </a:pPr>
            <a:r>
              <a:rPr b="1" lang="sk"/>
              <a:t>git mv </a:t>
            </a:r>
            <a:endParaRPr b="1"/>
          </a:p>
          <a:p>
            <a:pPr indent="-317500" lvl="1" marL="914400" rtl="0" algn="l">
              <a:spcBef>
                <a:spcPts val="0"/>
              </a:spcBef>
              <a:spcAft>
                <a:spcPts val="0"/>
              </a:spcAft>
              <a:buSzPts val="1400"/>
              <a:buChar char="○"/>
            </a:pPr>
            <a:r>
              <a:rPr lang="sk"/>
              <a:t>move/rename a file</a:t>
            </a:r>
            <a:endParaRPr/>
          </a:p>
          <a:p>
            <a:pPr indent="0" lvl="0" marL="457200" rtl="0" algn="l">
              <a:spcBef>
                <a:spcPts val="1200"/>
              </a:spcBef>
              <a:spcAft>
                <a:spcPts val="12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Git ignore</a:t>
            </a:r>
            <a:endParaRPr/>
          </a:p>
          <a:p>
            <a:pPr indent="0" lvl="0" marL="0" rtl="0" algn="l">
              <a:spcBef>
                <a:spcPts val="0"/>
              </a:spcBef>
              <a:spcAft>
                <a:spcPts val="0"/>
              </a:spcAft>
              <a:buNone/>
            </a:pPr>
            <a:r>
              <a:t/>
            </a:r>
            <a:endParaRPr/>
          </a:p>
        </p:txBody>
      </p:sp>
      <p:sp>
        <p:nvSpPr>
          <p:cNvPr id="253" name="Google Shape;253;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sk"/>
              <a:t>Git sees every file in your working copy as one of three things:</a:t>
            </a:r>
            <a:endParaRPr/>
          </a:p>
          <a:p>
            <a:pPr indent="0" lvl="0" marL="0" rtl="0" algn="l">
              <a:spcBef>
                <a:spcPts val="1200"/>
              </a:spcBef>
              <a:spcAft>
                <a:spcPts val="0"/>
              </a:spcAft>
              <a:buNone/>
            </a:pPr>
            <a:r>
              <a:rPr lang="sk"/>
              <a:t>1. </a:t>
            </a:r>
            <a:r>
              <a:rPr b="1" lang="sk"/>
              <a:t>tracked</a:t>
            </a:r>
            <a:r>
              <a:rPr lang="sk"/>
              <a:t> - a file which has been previously staged or committed;</a:t>
            </a:r>
            <a:endParaRPr/>
          </a:p>
          <a:p>
            <a:pPr indent="0" lvl="0" marL="0" rtl="0" algn="l">
              <a:spcBef>
                <a:spcPts val="1200"/>
              </a:spcBef>
              <a:spcAft>
                <a:spcPts val="0"/>
              </a:spcAft>
              <a:buNone/>
            </a:pPr>
            <a:r>
              <a:rPr lang="sk"/>
              <a:t>2. </a:t>
            </a:r>
            <a:r>
              <a:rPr b="1" lang="sk"/>
              <a:t>untracked</a:t>
            </a:r>
            <a:r>
              <a:rPr lang="sk"/>
              <a:t> - a file which has not been staged or committed; or</a:t>
            </a:r>
            <a:endParaRPr/>
          </a:p>
          <a:p>
            <a:pPr indent="0" lvl="0" marL="0" rtl="0" algn="l">
              <a:spcBef>
                <a:spcPts val="1200"/>
              </a:spcBef>
              <a:spcAft>
                <a:spcPts val="0"/>
              </a:spcAft>
              <a:buNone/>
            </a:pPr>
            <a:r>
              <a:rPr lang="sk"/>
              <a:t>3. </a:t>
            </a:r>
            <a:r>
              <a:rPr b="1" lang="sk"/>
              <a:t>ignored</a:t>
            </a:r>
            <a:r>
              <a:rPr lang="sk"/>
              <a:t> - a file which Git has been explicitly told to ignore.</a:t>
            </a:r>
            <a:endParaRPr/>
          </a:p>
          <a:p>
            <a:pPr indent="-342900" lvl="0" marL="457200" rtl="0" algn="l">
              <a:spcBef>
                <a:spcPts val="1200"/>
              </a:spcBef>
              <a:spcAft>
                <a:spcPts val="0"/>
              </a:spcAft>
              <a:buSzPts val="1800"/>
              <a:buChar char="●"/>
            </a:pPr>
            <a:r>
              <a:rPr b="1" lang="sk"/>
              <a:t>.gitignore </a:t>
            </a:r>
            <a:endParaRPr/>
          </a:p>
          <a:p>
            <a:pPr indent="0" lvl="0" marL="0" rtl="0" algn="l">
              <a:spcBef>
                <a:spcPts val="1200"/>
              </a:spcBef>
              <a:spcAft>
                <a:spcPts val="1200"/>
              </a:spcAft>
              <a:buNone/>
            </a:pPr>
            <a:r>
              <a:t/>
            </a:r>
            <a:endParaRPr/>
          </a:p>
        </p:txBody>
      </p:sp>
      <p:pic>
        <p:nvPicPr>
          <p:cNvPr id="254" name="Google Shape;254;p44"/>
          <p:cNvPicPr preferRelativeResize="0"/>
          <p:nvPr/>
        </p:nvPicPr>
        <p:blipFill>
          <a:blip r:embed="rId3">
            <a:alphaModFix/>
          </a:blip>
          <a:stretch>
            <a:fillRect/>
          </a:stretch>
        </p:blipFill>
        <p:spPr>
          <a:xfrm>
            <a:off x="2125125" y="3009650"/>
            <a:ext cx="4963400" cy="20229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Lab</a:t>
            </a:r>
            <a:endParaRPr/>
          </a:p>
        </p:txBody>
      </p:sp>
      <p:sp>
        <p:nvSpPr>
          <p:cNvPr id="260" name="Google Shape;260;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u="sng">
                <a:solidFill>
                  <a:schemeClr val="hlink"/>
                </a:solidFill>
                <a:hlinkClick r:id="rId3"/>
              </a:rPr>
              <a:t>http://zeus.fei.tuke.sk/git/git1.html</a:t>
            </a:r>
            <a:endParaRPr/>
          </a:p>
          <a:p>
            <a:pPr indent="-342900" lvl="0" marL="457200" rtl="0" algn="l">
              <a:spcBef>
                <a:spcPts val="0"/>
              </a:spcBef>
              <a:spcAft>
                <a:spcPts val="0"/>
              </a:spcAft>
              <a:buSzPts val="1800"/>
              <a:buChar char="●"/>
            </a:pPr>
            <a:r>
              <a:rPr lang="sk" u="sng">
                <a:solidFill>
                  <a:schemeClr val="hlink"/>
                </a:solidFill>
                <a:hlinkClick r:id="rId4"/>
              </a:rPr>
              <a:t>https://docs.google.com/document/d/1tY3hwP-lazsVip6ULPcqxYbxe4f_u7BSmCt0pr6Gpe0/edit?usp=sharing</a:t>
            </a:r>
            <a:endParaRPr/>
          </a:p>
          <a:p>
            <a:pPr indent="0" lvl="0" marL="0" rtl="0" algn="l">
              <a:spcBef>
                <a:spcPts val="1200"/>
              </a:spcBef>
              <a:spcAft>
                <a:spcPts val="12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6"/>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sk"/>
              <a:t>U</a:t>
            </a:r>
            <a:r>
              <a:rPr lang="sk"/>
              <a:t>ndo Changes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Git HEAD</a:t>
            </a:r>
            <a:endParaRPr/>
          </a:p>
        </p:txBody>
      </p:sp>
      <p:sp>
        <p:nvSpPr>
          <p:cNvPr id="271" name="Google Shape;271;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sk"/>
              <a:t>HEAD</a:t>
            </a:r>
            <a:r>
              <a:rPr lang="sk"/>
              <a:t> is a reference to the </a:t>
            </a:r>
            <a:r>
              <a:rPr b="1" lang="sk"/>
              <a:t>current commit</a:t>
            </a:r>
            <a:r>
              <a:rPr lang="sk"/>
              <a:t> on the currently </a:t>
            </a:r>
            <a:r>
              <a:rPr b="1" lang="sk"/>
              <a:t>checked-out</a:t>
            </a:r>
            <a:r>
              <a:rPr lang="sk"/>
              <a:t> </a:t>
            </a:r>
            <a:r>
              <a:rPr b="1" lang="sk"/>
              <a:t>branch</a:t>
            </a:r>
            <a:r>
              <a:rPr lang="sk"/>
              <a:t>.</a:t>
            </a:r>
            <a:endParaRPr/>
          </a:p>
          <a:p>
            <a:pPr indent="-317500" lvl="1" marL="914400" rtl="0" algn="l">
              <a:spcBef>
                <a:spcPts val="0"/>
              </a:spcBef>
              <a:spcAft>
                <a:spcPts val="0"/>
              </a:spcAft>
              <a:buSzPts val="1400"/>
              <a:buChar char="○"/>
            </a:pPr>
            <a:r>
              <a:rPr b="1" lang="sk"/>
              <a:t>Pointer to current commit</a:t>
            </a:r>
            <a:endParaRPr b="1"/>
          </a:p>
          <a:p>
            <a:pPr indent="-317500" lvl="2" marL="1371600" rtl="0" algn="l">
              <a:spcBef>
                <a:spcPts val="0"/>
              </a:spcBef>
              <a:spcAft>
                <a:spcPts val="0"/>
              </a:spcAft>
              <a:buSzPts val="1400"/>
              <a:buChar char="■"/>
            </a:pPr>
            <a:r>
              <a:rPr lang="sk"/>
              <a:t>HEAD usually points to the latest commit in your current branch, allowing Git to know what the current state of your project is and what changes are staged for the next commit.</a:t>
            </a:r>
            <a:endParaRPr/>
          </a:p>
          <a:p>
            <a:pPr indent="-317500" lvl="1" marL="914400" rtl="0" algn="l">
              <a:spcBef>
                <a:spcPts val="0"/>
              </a:spcBef>
              <a:spcAft>
                <a:spcPts val="0"/>
              </a:spcAft>
              <a:buSzPts val="1400"/>
              <a:buChar char="○"/>
            </a:pPr>
            <a:r>
              <a:rPr b="1" lang="sk"/>
              <a:t>Moving HEAD</a:t>
            </a:r>
            <a:endParaRPr b="1"/>
          </a:p>
          <a:p>
            <a:pPr indent="-317500" lvl="2" marL="1371600" rtl="0" algn="l">
              <a:spcBef>
                <a:spcPts val="0"/>
              </a:spcBef>
              <a:spcAft>
                <a:spcPts val="0"/>
              </a:spcAft>
              <a:buSzPts val="1400"/>
              <a:buChar char="■"/>
            </a:pPr>
            <a:r>
              <a:rPr lang="sk"/>
              <a:t>Typical operations that move HEAD include git checkout, git switch, and git reset. These commands change your current branch or roll back changes in your repository, respectively, thereby updating where HEAD points.</a:t>
            </a:r>
            <a:endParaRPr/>
          </a:p>
          <a:p>
            <a:pPr indent="-317500" lvl="1" marL="914400" rtl="0" algn="l">
              <a:spcBef>
                <a:spcPts val="0"/>
              </a:spcBef>
              <a:spcAft>
                <a:spcPts val="0"/>
              </a:spcAft>
              <a:buSzPts val="1400"/>
              <a:buChar char="○"/>
            </a:pPr>
            <a:r>
              <a:rPr b="1" lang="sk"/>
              <a:t>Detached HEAD state</a:t>
            </a:r>
            <a:endParaRPr b="1"/>
          </a:p>
          <a:p>
            <a:pPr indent="-317500" lvl="2" marL="1371600" rtl="0" algn="l">
              <a:spcBef>
                <a:spcPts val="0"/>
              </a:spcBef>
              <a:spcAft>
                <a:spcPts val="0"/>
              </a:spcAft>
              <a:buSzPts val="1400"/>
              <a:buChar char="■"/>
            </a:pPr>
            <a:r>
              <a:rPr lang="sk"/>
              <a:t>When you check out an older commit, a tag, or a remote branch, HEAD detaches and directly points to a specific commit instead of a branch. In this state, any new commits you make will be orphaned when you switch back to a branch, unless you create a new branch starting from the detached HEAD.</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id="276" name="Google Shape;276;p48"/>
          <p:cNvPicPr preferRelativeResize="0"/>
          <p:nvPr/>
        </p:nvPicPr>
        <p:blipFill>
          <a:blip r:embed="rId3">
            <a:alphaModFix/>
          </a:blip>
          <a:stretch>
            <a:fillRect/>
          </a:stretch>
        </p:blipFill>
        <p:spPr>
          <a:xfrm>
            <a:off x="641150" y="1357275"/>
            <a:ext cx="7620000" cy="4362450"/>
          </a:xfrm>
          <a:prstGeom prst="rect">
            <a:avLst/>
          </a:prstGeom>
          <a:noFill/>
          <a:ln>
            <a:noFill/>
          </a:ln>
        </p:spPr>
      </p:pic>
      <p:pic>
        <p:nvPicPr>
          <p:cNvPr id="277" name="Google Shape;277;p48"/>
          <p:cNvPicPr preferRelativeResize="0"/>
          <p:nvPr/>
        </p:nvPicPr>
        <p:blipFill>
          <a:blip r:embed="rId4">
            <a:alphaModFix/>
          </a:blip>
          <a:stretch>
            <a:fillRect/>
          </a:stretch>
        </p:blipFill>
        <p:spPr>
          <a:xfrm>
            <a:off x="762000" y="390525"/>
            <a:ext cx="7620000" cy="4362450"/>
          </a:xfrm>
          <a:prstGeom prst="rect">
            <a:avLst/>
          </a:prstGeom>
          <a:noFill/>
          <a:ln>
            <a:noFill/>
          </a:ln>
        </p:spPr>
      </p:pic>
      <p:sp>
        <p:nvSpPr>
          <p:cNvPr id="278" name="Google Shape;278;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Undoing Commits</a:t>
            </a:r>
            <a:endParaRPr/>
          </a:p>
        </p:txBody>
      </p:sp>
      <p:sp>
        <p:nvSpPr>
          <p:cNvPr id="279" name="Google Shape;279;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checkout </a:t>
            </a:r>
            <a:endParaRPr b="1"/>
          </a:p>
          <a:p>
            <a:pPr indent="-317500" lvl="1" marL="914400" rtl="0" algn="l">
              <a:spcBef>
                <a:spcPts val="0"/>
              </a:spcBef>
              <a:spcAft>
                <a:spcPts val="0"/>
              </a:spcAft>
              <a:buSzPts val="1400"/>
              <a:buChar char="○"/>
            </a:pPr>
            <a:r>
              <a:rPr lang="sk"/>
              <a:t>checkout the previous commit</a:t>
            </a:r>
            <a:endParaRPr/>
          </a:p>
          <a:p>
            <a:pPr indent="-317500" lvl="1" marL="914400" rtl="0" algn="l">
              <a:spcBef>
                <a:spcPts val="0"/>
              </a:spcBef>
              <a:spcAft>
                <a:spcPts val="0"/>
              </a:spcAft>
              <a:buSzPts val="1400"/>
              <a:buChar char="○"/>
            </a:pPr>
            <a:r>
              <a:rPr lang="sk"/>
              <a:t>putting the repository in a state before the commit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Resetting changes in the working copy</a:t>
            </a:r>
            <a:endParaRPr/>
          </a:p>
        </p:txBody>
      </p:sp>
      <p:sp>
        <p:nvSpPr>
          <p:cNvPr id="285" name="Google Shape;285;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checkout -- path</a:t>
            </a:r>
            <a:endParaRPr b="1"/>
          </a:p>
          <a:p>
            <a:pPr indent="-317500" lvl="1" marL="914400" rtl="0" algn="l">
              <a:spcBef>
                <a:spcPts val="0"/>
              </a:spcBef>
              <a:spcAft>
                <a:spcPts val="0"/>
              </a:spcAft>
              <a:buSzPts val="1400"/>
              <a:buChar char="○"/>
            </a:pPr>
            <a:r>
              <a:rPr lang="sk"/>
              <a:t>This command restores a file (or directory) as it appears in the index (thus it drops all unstaged changes)</a:t>
            </a:r>
            <a:endParaRPr/>
          </a:p>
        </p:txBody>
      </p:sp>
      <p:pic>
        <p:nvPicPr>
          <p:cNvPr id="286" name="Google Shape;286;p49"/>
          <p:cNvPicPr preferRelativeResize="0"/>
          <p:nvPr/>
        </p:nvPicPr>
        <p:blipFill>
          <a:blip r:embed="rId3">
            <a:alphaModFix/>
          </a:blip>
          <a:stretch>
            <a:fillRect/>
          </a:stretch>
        </p:blipFill>
        <p:spPr>
          <a:xfrm>
            <a:off x="2581734" y="2079471"/>
            <a:ext cx="3980525" cy="27337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Undoing Commits</a:t>
            </a:r>
            <a:endParaRPr/>
          </a:p>
          <a:p>
            <a:pPr indent="0" lvl="0" marL="0" rtl="0" algn="l">
              <a:spcBef>
                <a:spcPts val="0"/>
              </a:spcBef>
              <a:spcAft>
                <a:spcPts val="0"/>
              </a:spcAft>
              <a:buNone/>
            </a:pPr>
            <a:r>
              <a:t/>
            </a:r>
            <a:endParaRPr/>
          </a:p>
        </p:txBody>
      </p:sp>
      <p:sp>
        <p:nvSpPr>
          <p:cNvPr id="292" name="Google Shape;292;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revert</a:t>
            </a:r>
            <a:endParaRPr b="1"/>
          </a:p>
          <a:p>
            <a:pPr indent="-317500" lvl="1" marL="914400" rtl="0" algn="l">
              <a:spcBef>
                <a:spcPts val="0"/>
              </a:spcBef>
              <a:spcAft>
                <a:spcPts val="0"/>
              </a:spcAft>
              <a:buSzPts val="1400"/>
              <a:buChar char="○"/>
            </a:pPr>
            <a:r>
              <a:rPr lang="sk"/>
              <a:t>undoes a single commit—it does not "revert" back to the previous state of a project by removing all subsequent commits</a:t>
            </a:r>
            <a:endParaRPr/>
          </a:p>
        </p:txBody>
      </p:sp>
      <p:pic>
        <p:nvPicPr>
          <p:cNvPr id="293" name="Google Shape;293;p50"/>
          <p:cNvPicPr preferRelativeResize="0"/>
          <p:nvPr/>
        </p:nvPicPr>
        <p:blipFill>
          <a:blip r:embed="rId3">
            <a:alphaModFix/>
          </a:blip>
          <a:stretch>
            <a:fillRect/>
          </a:stretch>
        </p:blipFill>
        <p:spPr>
          <a:xfrm>
            <a:off x="2114550" y="2253675"/>
            <a:ext cx="4914900" cy="19050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Resetting changes</a:t>
            </a:r>
            <a:endParaRPr/>
          </a:p>
        </p:txBody>
      </p:sp>
      <p:sp>
        <p:nvSpPr>
          <p:cNvPr id="299" name="Google Shape;299;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reset [ --hard ] [ -- path . . . ]</a:t>
            </a:r>
            <a:endParaRPr b="1"/>
          </a:p>
          <a:p>
            <a:pPr indent="-317500" lvl="1" marL="914400" rtl="0" algn="l">
              <a:spcBef>
                <a:spcPts val="0"/>
              </a:spcBef>
              <a:spcAft>
                <a:spcPts val="0"/>
              </a:spcAft>
              <a:buSzPts val="1400"/>
              <a:buChar char="○"/>
            </a:pPr>
            <a:r>
              <a:rPr lang="sk"/>
              <a:t>git reset cancels the changes in the index (and possibly in the working copy)</a:t>
            </a:r>
            <a:endParaRPr/>
          </a:p>
          <a:p>
            <a:pPr indent="-317500" lvl="1" marL="914400" rtl="0" algn="l">
              <a:spcBef>
                <a:spcPts val="0"/>
              </a:spcBef>
              <a:spcAft>
                <a:spcPts val="0"/>
              </a:spcAft>
              <a:buSzPts val="1400"/>
              <a:buChar char="○"/>
            </a:pPr>
            <a:r>
              <a:rPr lang="sk"/>
              <a:t>git reset </a:t>
            </a:r>
            <a:r>
              <a:rPr b="1" lang="sk"/>
              <a:t>--mixed</a:t>
            </a:r>
            <a:r>
              <a:rPr lang="sk"/>
              <a:t> drops the changes staged into the index, but the working copy is left intact</a:t>
            </a:r>
            <a:endParaRPr/>
          </a:p>
          <a:p>
            <a:pPr indent="-317500" lvl="1" marL="914400" rtl="0" algn="l">
              <a:spcBef>
                <a:spcPts val="0"/>
              </a:spcBef>
              <a:spcAft>
                <a:spcPts val="0"/>
              </a:spcAft>
              <a:buSzPts val="1400"/>
              <a:buChar char="○"/>
            </a:pPr>
            <a:r>
              <a:rPr lang="sk"/>
              <a:t>git reset </a:t>
            </a:r>
            <a:r>
              <a:rPr b="1" lang="sk"/>
              <a:t>--hard</a:t>
            </a:r>
            <a:r>
              <a:rPr lang="sk"/>
              <a:t> drops all the changes in the index and in the working copy</a:t>
            </a:r>
            <a:endParaRPr/>
          </a:p>
          <a:p>
            <a:pPr indent="-317500" lvl="1" marL="914400" rtl="0" algn="l">
              <a:spcBef>
                <a:spcPts val="0"/>
              </a:spcBef>
              <a:spcAft>
                <a:spcPts val="0"/>
              </a:spcAft>
              <a:buSzPts val="1400"/>
              <a:buChar char="○"/>
            </a:pPr>
            <a:r>
              <a:rPr lang="sk"/>
              <a:t>git reset, moves both the HEAD and branch refs to the specified commit</a:t>
            </a:r>
            <a:endParaRPr/>
          </a:p>
        </p:txBody>
      </p:sp>
      <p:pic>
        <p:nvPicPr>
          <p:cNvPr id="300" name="Google Shape;300;p51"/>
          <p:cNvPicPr preferRelativeResize="0"/>
          <p:nvPr/>
        </p:nvPicPr>
        <p:blipFill>
          <a:blip r:embed="rId3">
            <a:alphaModFix/>
          </a:blip>
          <a:stretch>
            <a:fillRect/>
          </a:stretch>
        </p:blipFill>
        <p:spPr>
          <a:xfrm>
            <a:off x="-917350" y="1429050"/>
            <a:ext cx="7620000" cy="4362450"/>
          </a:xfrm>
          <a:prstGeom prst="rect">
            <a:avLst/>
          </a:prstGeom>
          <a:noFill/>
          <a:ln>
            <a:noFill/>
          </a:ln>
        </p:spPr>
      </p:pic>
      <p:pic>
        <p:nvPicPr>
          <p:cNvPr id="301" name="Google Shape;301;p51"/>
          <p:cNvPicPr preferRelativeResize="0"/>
          <p:nvPr/>
        </p:nvPicPr>
        <p:blipFill>
          <a:blip r:embed="rId4">
            <a:alphaModFix/>
          </a:blip>
          <a:stretch>
            <a:fillRect/>
          </a:stretch>
        </p:blipFill>
        <p:spPr>
          <a:xfrm>
            <a:off x="4799850" y="3079963"/>
            <a:ext cx="4000500" cy="16097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Git checkout file</a:t>
            </a:r>
            <a:endParaRPr/>
          </a:p>
        </p:txBody>
      </p:sp>
      <p:sp>
        <p:nvSpPr>
          <p:cNvPr id="307" name="Google Shape;307;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reset </a:t>
            </a:r>
            <a:r>
              <a:rPr b="1" lang="sk"/>
              <a:t>-- </a:t>
            </a:r>
            <a:r>
              <a:rPr b="1" lang="sk"/>
              <a:t>file</a:t>
            </a:r>
            <a:endParaRPr b="1"/>
          </a:p>
          <a:p>
            <a:pPr indent="0" lvl="0" marL="457200" rtl="0" algn="l">
              <a:spcBef>
                <a:spcPts val="1200"/>
              </a:spcBef>
              <a:spcAft>
                <a:spcPts val="1200"/>
              </a:spcAft>
              <a:buNone/>
            </a:pPr>
            <a:r>
              <a:t/>
            </a:r>
            <a:endParaRPr/>
          </a:p>
        </p:txBody>
      </p:sp>
      <p:pic>
        <p:nvPicPr>
          <p:cNvPr id="308" name="Google Shape;308;p52"/>
          <p:cNvPicPr preferRelativeResize="0"/>
          <p:nvPr/>
        </p:nvPicPr>
        <p:blipFill>
          <a:blip r:embed="rId3">
            <a:alphaModFix/>
          </a:blip>
          <a:stretch>
            <a:fillRect/>
          </a:stretch>
        </p:blipFill>
        <p:spPr>
          <a:xfrm>
            <a:off x="2841863" y="1898700"/>
            <a:ext cx="3460276" cy="23186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Resetting changes</a:t>
            </a:r>
            <a:endParaRPr/>
          </a:p>
        </p:txBody>
      </p:sp>
      <p:sp>
        <p:nvSpPr>
          <p:cNvPr id="314" name="Google Shape;314;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t/>
            </a:r>
            <a:endParaRPr/>
          </a:p>
        </p:txBody>
      </p:sp>
      <p:pic>
        <p:nvPicPr>
          <p:cNvPr id="315" name="Google Shape;315;p53"/>
          <p:cNvPicPr preferRelativeResize="0"/>
          <p:nvPr/>
        </p:nvPicPr>
        <p:blipFill>
          <a:blip r:embed="rId3">
            <a:alphaModFix/>
          </a:blip>
          <a:stretch>
            <a:fillRect/>
          </a:stretch>
        </p:blipFill>
        <p:spPr>
          <a:xfrm>
            <a:off x="2407057" y="1152475"/>
            <a:ext cx="4329878" cy="35433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Undo</a:t>
            </a:r>
            <a:endParaRPr/>
          </a:p>
        </p:txBody>
      </p:sp>
      <p:sp>
        <p:nvSpPr>
          <p:cNvPr id="321" name="Google Shape;321;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u="sng">
                <a:solidFill>
                  <a:schemeClr val="hlink"/>
                </a:solidFill>
                <a:hlinkClick r:id="rId3"/>
              </a:rPr>
              <a:t>https://git-scm.com/book/cs/v2/Git-Tools-Reset-Demystified</a:t>
            </a:r>
            <a:endParaRPr/>
          </a:p>
          <a:p>
            <a:pPr indent="0" lvl="0" marL="0" rtl="0" algn="l">
              <a:spcBef>
                <a:spcPts val="1200"/>
              </a:spcBef>
              <a:spcAft>
                <a:spcPts val="120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Lab</a:t>
            </a:r>
            <a:endParaRPr/>
          </a:p>
        </p:txBody>
      </p:sp>
      <p:sp>
        <p:nvSpPr>
          <p:cNvPr id="327" name="Google Shape;327;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u="sng">
                <a:solidFill>
                  <a:schemeClr val="hlink"/>
                </a:solidFill>
                <a:hlinkClick r:id="rId3"/>
              </a:rPr>
              <a:t>https://docs.google.com/document/d/1wYdyXlDaZp5dxQsjYPekAp0oWlS-0M5kZOmnHdtCmhg/edit?usp=sharing</a:t>
            </a:r>
            <a:endParaRPr/>
          </a:p>
          <a:p>
            <a:pPr indent="0" lvl="0" marL="0" rtl="0" algn="l">
              <a:spcBef>
                <a:spcPts val="1200"/>
              </a:spcBef>
              <a:spcAft>
                <a:spcPts val="12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6"/>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sk"/>
              <a:t>Branching &amp; merging</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Branches</a:t>
            </a:r>
            <a:endParaRPr/>
          </a:p>
        </p:txBody>
      </p:sp>
      <p:sp>
        <p:nvSpPr>
          <p:cNvPr id="338" name="Google Shape;338;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39" name="Google Shape;339;p57"/>
          <p:cNvPicPr preferRelativeResize="0"/>
          <p:nvPr/>
        </p:nvPicPr>
        <p:blipFill>
          <a:blip r:embed="rId3">
            <a:alphaModFix/>
          </a:blip>
          <a:stretch>
            <a:fillRect/>
          </a:stretch>
        </p:blipFill>
        <p:spPr>
          <a:xfrm>
            <a:off x="1507687" y="1152475"/>
            <a:ext cx="6128625" cy="367099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How GIT handles its history</a:t>
            </a:r>
            <a:endParaRPr/>
          </a:p>
        </p:txBody>
      </p:sp>
      <p:sp>
        <p:nvSpPr>
          <p:cNvPr id="345" name="Google Shape;345;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a:t>Each commit object has a list of parent commits:</a:t>
            </a:r>
            <a:endParaRPr/>
          </a:p>
          <a:p>
            <a:pPr indent="-317500" lvl="1" marL="914400" rtl="0" algn="l">
              <a:spcBef>
                <a:spcPts val="0"/>
              </a:spcBef>
              <a:spcAft>
                <a:spcPts val="0"/>
              </a:spcAft>
              <a:buSzPts val="1400"/>
              <a:buChar char="○"/>
            </a:pPr>
            <a:r>
              <a:rPr lang="sk"/>
              <a:t>0 parents → initial commit</a:t>
            </a:r>
            <a:endParaRPr/>
          </a:p>
          <a:p>
            <a:pPr indent="-317500" lvl="1" marL="914400" rtl="0" algn="l">
              <a:spcBef>
                <a:spcPts val="0"/>
              </a:spcBef>
              <a:spcAft>
                <a:spcPts val="0"/>
              </a:spcAft>
              <a:buSzPts val="1400"/>
              <a:buChar char="○"/>
            </a:pPr>
            <a:r>
              <a:rPr lang="sk"/>
              <a:t>1 parent → ordinary commit</a:t>
            </a:r>
            <a:endParaRPr/>
          </a:p>
          <a:p>
            <a:pPr indent="-317500" lvl="1" marL="914400" rtl="0" algn="l">
              <a:spcBef>
                <a:spcPts val="0"/>
              </a:spcBef>
              <a:spcAft>
                <a:spcPts val="0"/>
              </a:spcAft>
              <a:buSzPts val="1400"/>
              <a:buChar char="○"/>
            </a:pPr>
            <a:r>
              <a:rPr lang="sk"/>
              <a:t>2+ parents → result of a merge</a:t>
            </a:r>
            <a:endParaRPr/>
          </a:p>
          <a:p>
            <a:pPr indent="-342900" lvl="0" marL="457200" rtl="0" algn="l">
              <a:spcBef>
                <a:spcPts val="0"/>
              </a:spcBef>
              <a:spcAft>
                <a:spcPts val="0"/>
              </a:spcAft>
              <a:buSzPts val="1800"/>
              <a:buChar char="●"/>
            </a:pPr>
            <a:r>
              <a:rPr lang="sk"/>
              <a:t>This is a Direct Acyclic Graph</a:t>
            </a:r>
            <a:endParaRPr/>
          </a:p>
        </p:txBody>
      </p:sp>
      <p:pic>
        <p:nvPicPr>
          <p:cNvPr id="346" name="Google Shape;346;p58"/>
          <p:cNvPicPr preferRelativeResize="0"/>
          <p:nvPr/>
        </p:nvPicPr>
        <p:blipFill>
          <a:blip r:embed="rId3">
            <a:alphaModFix/>
          </a:blip>
          <a:stretch>
            <a:fillRect/>
          </a:stretch>
        </p:blipFill>
        <p:spPr>
          <a:xfrm>
            <a:off x="5791821" y="1404650"/>
            <a:ext cx="2670975" cy="32104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How GIT handles its history</a:t>
            </a:r>
            <a:endParaRPr/>
          </a:p>
        </p:txBody>
      </p:sp>
      <p:sp>
        <p:nvSpPr>
          <p:cNvPr id="352" name="Google Shape;352;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a:t>here is no formal “branch history”</a:t>
            </a:r>
            <a:endParaRPr/>
          </a:p>
          <a:p>
            <a:pPr indent="-317500" lvl="1" marL="914400" rtl="0" algn="l">
              <a:spcBef>
                <a:spcPts val="0"/>
              </a:spcBef>
              <a:spcAft>
                <a:spcPts val="0"/>
              </a:spcAft>
              <a:buSzPts val="1400"/>
              <a:buChar char="○"/>
            </a:pPr>
            <a:r>
              <a:rPr lang="sk"/>
              <a:t>a </a:t>
            </a:r>
            <a:r>
              <a:rPr b="1" lang="sk"/>
              <a:t>branch</a:t>
            </a:r>
            <a:r>
              <a:rPr lang="sk"/>
              <a:t> is just a pointer on the latest commit.</a:t>
            </a:r>
            <a:endParaRPr/>
          </a:p>
          <a:p>
            <a:pPr indent="-317500" lvl="1" marL="914400" rtl="0" algn="l">
              <a:spcBef>
                <a:spcPts val="0"/>
              </a:spcBef>
              <a:spcAft>
                <a:spcPts val="0"/>
              </a:spcAft>
              <a:buSzPts val="1400"/>
              <a:buChar char="○"/>
            </a:pPr>
            <a:r>
              <a:rPr lang="sk"/>
              <a:t>(git handles branches and tags in the same way internally)</a:t>
            </a:r>
            <a:endParaRPr/>
          </a:p>
          <a:p>
            <a:pPr indent="-342900" lvl="0" marL="457200" rtl="0" algn="l">
              <a:spcBef>
                <a:spcPts val="0"/>
              </a:spcBef>
              <a:spcAft>
                <a:spcPts val="0"/>
              </a:spcAft>
              <a:buSzPts val="1800"/>
              <a:buChar char="●"/>
            </a:pPr>
            <a:r>
              <a:rPr lang="sk"/>
              <a:t>Commits are identified with SHA-1 hash (160 bits) computed from:</a:t>
            </a:r>
            <a:endParaRPr/>
          </a:p>
          <a:p>
            <a:pPr indent="-317500" lvl="1" marL="914400" rtl="0" algn="l">
              <a:spcBef>
                <a:spcPts val="0"/>
              </a:spcBef>
              <a:spcAft>
                <a:spcPts val="0"/>
              </a:spcAft>
              <a:buSzPts val="1400"/>
              <a:buChar char="○"/>
            </a:pPr>
            <a:r>
              <a:rPr lang="sk"/>
              <a:t>the </a:t>
            </a:r>
            <a:r>
              <a:rPr b="1" lang="sk"/>
              <a:t>commited files</a:t>
            </a:r>
            <a:endParaRPr b="1"/>
          </a:p>
          <a:p>
            <a:pPr indent="-317500" lvl="1" marL="914400" rtl="0" algn="l">
              <a:spcBef>
                <a:spcPts val="0"/>
              </a:spcBef>
              <a:spcAft>
                <a:spcPts val="0"/>
              </a:spcAft>
              <a:buSzPts val="1400"/>
              <a:buChar char="○"/>
            </a:pPr>
            <a:r>
              <a:rPr lang="sk"/>
              <a:t>the </a:t>
            </a:r>
            <a:r>
              <a:rPr b="1" lang="sk"/>
              <a:t>meta data</a:t>
            </a:r>
            <a:r>
              <a:rPr lang="sk"/>
              <a:t> (commit message, author name, . . . )</a:t>
            </a:r>
            <a:endParaRPr/>
          </a:p>
          <a:p>
            <a:pPr indent="-317500" lvl="1" marL="914400" rtl="0" algn="l">
              <a:spcBef>
                <a:spcPts val="0"/>
              </a:spcBef>
              <a:spcAft>
                <a:spcPts val="0"/>
              </a:spcAft>
              <a:buSzPts val="1400"/>
              <a:buChar char="○"/>
            </a:pPr>
            <a:r>
              <a:rPr lang="sk"/>
              <a:t>the </a:t>
            </a:r>
            <a:r>
              <a:rPr b="1" lang="sk"/>
              <a:t>hashes</a:t>
            </a:r>
            <a:r>
              <a:rPr lang="sk"/>
              <a:t> </a:t>
            </a:r>
            <a:r>
              <a:rPr b="1" lang="sk"/>
              <a:t>of the parent</a:t>
            </a:r>
            <a:r>
              <a:rPr lang="sk"/>
              <a:t> commits</a:t>
            </a:r>
            <a:endParaRPr/>
          </a:p>
          <a:p>
            <a:pPr indent="-317500" lvl="1" marL="914400" rtl="0" algn="l">
              <a:spcBef>
                <a:spcPts val="0"/>
              </a:spcBef>
              <a:spcAft>
                <a:spcPts val="0"/>
              </a:spcAft>
              <a:buSzPts val="1400"/>
              <a:buChar char="○"/>
            </a:pPr>
            <a:r>
              <a:rPr lang="sk"/>
              <a:t>A </a:t>
            </a:r>
            <a:r>
              <a:rPr b="1" lang="sk"/>
              <a:t>commit id (hash) </a:t>
            </a:r>
            <a:r>
              <a:rPr lang="sk"/>
              <a:t>identifies securely and reliably its content and all the previous revisions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Creating a new branch</a:t>
            </a:r>
            <a:endParaRPr/>
          </a:p>
        </p:txBody>
      </p:sp>
      <p:sp>
        <p:nvSpPr>
          <p:cNvPr id="358" name="Google Shape;358;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checkout -b new_branch [ starting point ]</a:t>
            </a:r>
            <a:endParaRPr b="1"/>
          </a:p>
          <a:p>
            <a:pPr indent="-317500" lvl="1" marL="914400" rtl="0" algn="l">
              <a:spcBef>
                <a:spcPts val="0"/>
              </a:spcBef>
              <a:spcAft>
                <a:spcPts val="0"/>
              </a:spcAft>
              <a:buSzPts val="1400"/>
              <a:buChar char="○"/>
            </a:pPr>
            <a:r>
              <a:rPr lang="sk"/>
              <a:t>new branch is the name of the new branch</a:t>
            </a:r>
            <a:endParaRPr/>
          </a:p>
          <a:p>
            <a:pPr indent="-317500" lvl="1" marL="914400" rtl="0" algn="l">
              <a:spcBef>
                <a:spcPts val="0"/>
              </a:spcBef>
              <a:spcAft>
                <a:spcPts val="0"/>
              </a:spcAft>
              <a:buSzPts val="1400"/>
              <a:buChar char="○"/>
            </a:pPr>
            <a:r>
              <a:rPr lang="sk"/>
              <a:t>starting point is the starting location of the branch (possibly a commit id, a tag, a branch, . . . ). If not present, git will use the current location.</a:t>
            </a:r>
            <a:endParaRPr/>
          </a:p>
        </p:txBody>
      </p:sp>
      <p:pic>
        <p:nvPicPr>
          <p:cNvPr id="359" name="Google Shape;359;p60"/>
          <p:cNvPicPr preferRelativeResize="0"/>
          <p:nvPr/>
        </p:nvPicPr>
        <p:blipFill>
          <a:blip r:embed="rId3">
            <a:alphaModFix/>
          </a:blip>
          <a:stretch>
            <a:fillRect/>
          </a:stretch>
        </p:blipFill>
        <p:spPr>
          <a:xfrm>
            <a:off x="507863" y="2571750"/>
            <a:ext cx="8128274" cy="23262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Switching between branches</a:t>
            </a:r>
            <a:endParaRPr/>
          </a:p>
        </p:txBody>
      </p:sp>
      <p:sp>
        <p:nvSpPr>
          <p:cNvPr id="365" name="Google Shape;365;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checkout [-m] branch_name</a:t>
            </a:r>
            <a:endParaRPr b="1"/>
          </a:p>
        </p:txBody>
      </p:sp>
      <p:pic>
        <p:nvPicPr>
          <p:cNvPr id="366" name="Google Shape;366;p61"/>
          <p:cNvPicPr preferRelativeResize="0"/>
          <p:nvPr/>
        </p:nvPicPr>
        <p:blipFill>
          <a:blip r:embed="rId3">
            <a:alphaModFix/>
          </a:blip>
          <a:stretch>
            <a:fillRect/>
          </a:stretch>
        </p:blipFill>
        <p:spPr>
          <a:xfrm>
            <a:off x="311700" y="1750225"/>
            <a:ext cx="8520600" cy="15566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Merging a branch</a:t>
            </a:r>
            <a:endParaRPr/>
          </a:p>
        </p:txBody>
      </p:sp>
      <p:sp>
        <p:nvSpPr>
          <p:cNvPr id="372" name="Google Shape;372;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merge other_branch</a:t>
            </a:r>
            <a:endParaRPr b="1"/>
          </a:p>
          <a:p>
            <a:pPr indent="-317500" lvl="1" marL="914400" rtl="0" algn="l">
              <a:spcBef>
                <a:spcPts val="0"/>
              </a:spcBef>
              <a:spcAft>
                <a:spcPts val="0"/>
              </a:spcAft>
              <a:buSzPts val="1400"/>
              <a:buChar char="○"/>
            </a:pPr>
            <a:r>
              <a:rPr lang="sk"/>
              <a:t>This will merge the changes in other branch into the current branch</a:t>
            </a:r>
            <a:endParaRPr/>
          </a:p>
        </p:txBody>
      </p:sp>
      <p:pic>
        <p:nvPicPr>
          <p:cNvPr id="373" name="Google Shape;373;p62"/>
          <p:cNvPicPr preferRelativeResize="0"/>
          <p:nvPr/>
        </p:nvPicPr>
        <p:blipFill>
          <a:blip r:embed="rId3">
            <a:alphaModFix/>
          </a:blip>
          <a:stretch>
            <a:fillRect/>
          </a:stretch>
        </p:blipFill>
        <p:spPr>
          <a:xfrm>
            <a:off x="311700" y="2273675"/>
            <a:ext cx="8520599" cy="20870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A</a:t>
            </a:r>
            <a:r>
              <a:rPr lang="sk"/>
              <a:t>bout merging</a:t>
            </a:r>
            <a:endParaRPr/>
          </a:p>
        </p:txBody>
      </p:sp>
      <p:sp>
        <p:nvSpPr>
          <p:cNvPr id="379" name="Google Shape;379;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a:t>The result of git merge is immediately committed (unless there is a conflict)</a:t>
            </a:r>
            <a:endParaRPr/>
          </a:p>
          <a:p>
            <a:pPr indent="-342900" lvl="0" marL="457200" rtl="0" algn="l">
              <a:spcBef>
                <a:spcPts val="0"/>
              </a:spcBef>
              <a:spcAft>
                <a:spcPts val="0"/>
              </a:spcAft>
              <a:buSzPts val="1800"/>
              <a:buChar char="●"/>
            </a:pPr>
            <a:r>
              <a:rPr lang="sk"/>
              <a:t>The new commit object has two parents.</a:t>
            </a:r>
            <a:endParaRPr/>
          </a:p>
          <a:p>
            <a:pPr indent="-342900" lvl="0" marL="457200" rtl="0" algn="l">
              <a:spcBef>
                <a:spcPts val="0"/>
              </a:spcBef>
              <a:spcAft>
                <a:spcPts val="0"/>
              </a:spcAft>
              <a:buSzPts val="1800"/>
              <a:buChar char="●"/>
            </a:pPr>
            <a:r>
              <a:rPr lang="sk"/>
              <a:t>git merge applies only the changes since the last common ancestor in the other branch.</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Branging example</a:t>
            </a:r>
            <a:endParaRPr/>
          </a:p>
        </p:txBody>
      </p:sp>
      <p:sp>
        <p:nvSpPr>
          <p:cNvPr id="385" name="Google Shape;385;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u="sng">
                <a:solidFill>
                  <a:schemeClr val="hlink"/>
                </a:solidFill>
                <a:hlinkClick r:id="rId3"/>
              </a:rPr>
              <a:t>https://docs.google.com/document/d/1CjpQSLBXQNRSQquDXfxxzqrvNA87tQZ9UX9R-9ZfdBw/edit?usp=sharing</a:t>
            </a:r>
            <a:endParaRPr/>
          </a:p>
          <a:p>
            <a:pPr indent="0" lvl="0" marL="0" rtl="0" algn="l">
              <a:spcBef>
                <a:spcPts val="1200"/>
              </a:spcBef>
              <a:spcAft>
                <a:spcPts val="120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How Git merges files ?</a:t>
            </a:r>
            <a:endParaRPr/>
          </a:p>
        </p:txBody>
      </p:sp>
      <p:sp>
        <p:nvSpPr>
          <p:cNvPr id="391" name="Google Shape;391;p6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sk"/>
              <a:t>If the same file was independently modified in the two branches, then Git needs to merge these two variants</a:t>
            </a:r>
            <a:endParaRPr/>
          </a:p>
          <a:p>
            <a:pPr indent="-317500" lvl="0" marL="457200" rtl="0" algn="l">
              <a:spcBef>
                <a:spcPts val="1200"/>
              </a:spcBef>
              <a:spcAft>
                <a:spcPts val="0"/>
              </a:spcAft>
              <a:buSzPts val="1400"/>
              <a:buChar char="●"/>
            </a:pPr>
            <a:r>
              <a:rPr b="1" lang="sk"/>
              <a:t>textual</a:t>
            </a:r>
            <a:r>
              <a:rPr lang="sk"/>
              <a:t> files are merged on a per-line basis</a:t>
            </a:r>
            <a:endParaRPr/>
          </a:p>
          <a:p>
            <a:pPr indent="-304800" lvl="1" marL="914400" rtl="0" algn="l">
              <a:spcBef>
                <a:spcPts val="0"/>
              </a:spcBef>
              <a:spcAft>
                <a:spcPts val="0"/>
              </a:spcAft>
              <a:buSzPts val="1200"/>
              <a:buChar char="○"/>
            </a:pPr>
            <a:r>
              <a:rPr lang="sk"/>
              <a:t>lines changed in only one branch are automatically merged</a:t>
            </a:r>
            <a:endParaRPr/>
          </a:p>
          <a:p>
            <a:pPr indent="-304800" lvl="1" marL="914400" rtl="0" algn="l">
              <a:spcBef>
                <a:spcPts val="0"/>
              </a:spcBef>
              <a:spcAft>
                <a:spcPts val="0"/>
              </a:spcAft>
              <a:buSzPts val="1200"/>
              <a:buChar char="○"/>
            </a:pPr>
            <a:r>
              <a:rPr lang="sk"/>
              <a:t>if a line was modified in the two branches, then Git reports a conflict. </a:t>
            </a:r>
            <a:r>
              <a:rPr b="1" lang="sk"/>
              <a:t>Conflict</a:t>
            </a:r>
            <a:r>
              <a:rPr lang="sk"/>
              <a:t> zones are enclosed within </a:t>
            </a:r>
            <a:r>
              <a:rPr b="1" lang="sk"/>
              <a:t>&lt;&lt;&lt;&lt;&lt;&lt;&lt; &gt;&gt;&gt;&gt;&gt;&gt;&gt;</a:t>
            </a:r>
            <a:endParaRPr b="1"/>
          </a:p>
          <a:p>
            <a:pPr indent="-317500" lvl="0" marL="457200" rtl="0" algn="l">
              <a:spcBef>
                <a:spcPts val="0"/>
              </a:spcBef>
              <a:spcAft>
                <a:spcPts val="0"/>
              </a:spcAft>
              <a:buSzPts val="1400"/>
              <a:buChar char="●"/>
            </a:pPr>
            <a:r>
              <a:rPr b="1" lang="sk"/>
              <a:t>binary</a:t>
            </a:r>
            <a:r>
              <a:rPr lang="sk"/>
              <a:t> files always raise a conflict and require manual merging</a:t>
            </a:r>
            <a:endParaRPr/>
          </a:p>
        </p:txBody>
      </p:sp>
      <p:pic>
        <p:nvPicPr>
          <p:cNvPr id="392" name="Google Shape;392;p65"/>
          <p:cNvPicPr preferRelativeResize="0"/>
          <p:nvPr/>
        </p:nvPicPr>
        <p:blipFill>
          <a:blip r:embed="rId3">
            <a:alphaModFix/>
          </a:blip>
          <a:stretch>
            <a:fillRect/>
          </a:stretch>
        </p:blipFill>
        <p:spPr>
          <a:xfrm>
            <a:off x="4311600" y="1934200"/>
            <a:ext cx="4854524" cy="16903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Merge conflicts</a:t>
            </a:r>
            <a:endParaRPr/>
          </a:p>
        </p:txBody>
      </p:sp>
      <p:sp>
        <p:nvSpPr>
          <p:cNvPr id="398" name="Google Shape;398;p6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sk"/>
              <a:t>In case of a conflict:</a:t>
            </a:r>
            <a:endParaRPr/>
          </a:p>
          <a:p>
            <a:pPr indent="-342900" lvl="0" marL="457200" rtl="0" algn="l">
              <a:spcBef>
                <a:spcPts val="1200"/>
              </a:spcBef>
              <a:spcAft>
                <a:spcPts val="0"/>
              </a:spcAft>
              <a:buSzPts val="1800"/>
              <a:buChar char="●"/>
            </a:pPr>
            <a:r>
              <a:rPr b="1" lang="sk"/>
              <a:t>unmerged</a:t>
            </a:r>
            <a:r>
              <a:rPr lang="sk"/>
              <a:t> files (those having conflicts) are left </a:t>
            </a:r>
            <a:r>
              <a:rPr b="1" lang="sk"/>
              <a:t>in the working tree</a:t>
            </a:r>
            <a:r>
              <a:rPr lang="sk"/>
              <a:t> and marked as “unmerged”</a:t>
            </a:r>
            <a:endParaRPr/>
          </a:p>
          <a:p>
            <a:pPr indent="-342900" lvl="0" marL="457200" rtl="0" algn="l">
              <a:spcBef>
                <a:spcPts val="0"/>
              </a:spcBef>
              <a:spcAft>
                <a:spcPts val="0"/>
              </a:spcAft>
              <a:buSzPts val="1800"/>
              <a:buChar char="●"/>
            </a:pPr>
            <a:r>
              <a:rPr lang="sk"/>
              <a:t>the </a:t>
            </a:r>
            <a:r>
              <a:rPr b="1" lang="sk"/>
              <a:t>other</a:t>
            </a:r>
            <a:r>
              <a:rPr lang="sk"/>
              <a:t> files (free of conflicts) and the metadata (commit message, parents commits, ...) are automatically added </a:t>
            </a:r>
            <a:r>
              <a:rPr b="1" lang="sk"/>
              <a:t>into the</a:t>
            </a:r>
            <a:r>
              <a:rPr lang="sk"/>
              <a:t> </a:t>
            </a:r>
            <a:r>
              <a:rPr b="1" lang="sk"/>
              <a:t>index</a:t>
            </a:r>
            <a:r>
              <a:rPr lang="sk"/>
              <a:t> (the staging area)</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Conflict example</a:t>
            </a:r>
            <a:endParaRPr/>
          </a:p>
        </p:txBody>
      </p:sp>
      <p:sp>
        <p:nvSpPr>
          <p:cNvPr id="404" name="Google Shape;404;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u="sng">
                <a:solidFill>
                  <a:schemeClr val="hlink"/>
                </a:solidFill>
                <a:hlinkClick r:id="rId3"/>
              </a:rPr>
              <a:t>https://docs.google.com/document/d/1uJxeoGkUgq-_i5pm3nKEr0H5qWRzZSKIk8ggNjrrh90/edit?usp=sharing</a:t>
            </a:r>
            <a:endParaRPr/>
          </a:p>
          <a:p>
            <a:pPr indent="0" lvl="0" marL="0" rtl="0" algn="l">
              <a:spcBef>
                <a:spcPts val="1200"/>
              </a:spcBef>
              <a:spcAft>
                <a:spcPts val="120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Resolving conflicts</a:t>
            </a:r>
            <a:endParaRPr/>
          </a:p>
        </p:txBody>
      </p:sp>
      <p:sp>
        <p:nvSpPr>
          <p:cNvPr id="410" name="Google Shape;410;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sk"/>
              <a:t>There are two ways to resolve conflicts:</a:t>
            </a:r>
            <a:endParaRPr/>
          </a:p>
          <a:p>
            <a:pPr indent="-342900" lvl="0" marL="457200" rtl="0" algn="l">
              <a:spcBef>
                <a:spcPts val="1200"/>
              </a:spcBef>
              <a:spcAft>
                <a:spcPts val="0"/>
              </a:spcAft>
              <a:buSzPts val="1800"/>
              <a:buChar char="●"/>
            </a:pPr>
            <a:r>
              <a:rPr lang="sk"/>
              <a:t>either </a:t>
            </a:r>
            <a:r>
              <a:rPr b="1" lang="sk"/>
              <a:t>edit the files manually</a:t>
            </a:r>
            <a:r>
              <a:rPr lang="sk"/>
              <a:t>, then run</a:t>
            </a:r>
            <a:endParaRPr/>
          </a:p>
          <a:p>
            <a:pPr indent="-317500" lvl="1" marL="914400" rtl="0" algn="l">
              <a:spcBef>
                <a:spcPts val="0"/>
              </a:spcBef>
              <a:spcAft>
                <a:spcPts val="0"/>
              </a:spcAft>
              <a:buSzPts val="1400"/>
              <a:buChar char="○"/>
            </a:pPr>
            <a:r>
              <a:rPr b="1" lang="sk"/>
              <a:t>git add file</a:t>
            </a:r>
            <a:r>
              <a:rPr lang="sk"/>
              <a:t> → to check the file into the index</a:t>
            </a:r>
            <a:endParaRPr/>
          </a:p>
          <a:p>
            <a:pPr indent="-317500" lvl="1" marL="914400" rtl="0" algn="l">
              <a:spcBef>
                <a:spcPts val="0"/>
              </a:spcBef>
              <a:spcAft>
                <a:spcPts val="0"/>
              </a:spcAft>
              <a:buSzPts val="1400"/>
              <a:buChar char="○"/>
            </a:pPr>
            <a:r>
              <a:rPr lang="sk"/>
              <a:t>or</a:t>
            </a:r>
            <a:endParaRPr/>
          </a:p>
          <a:p>
            <a:pPr indent="-317500" lvl="1" marL="914400" rtl="0" algn="l">
              <a:spcBef>
                <a:spcPts val="0"/>
              </a:spcBef>
              <a:spcAft>
                <a:spcPts val="0"/>
              </a:spcAft>
              <a:buSzPts val="1400"/>
              <a:buChar char="○"/>
            </a:pPr>
            <a:r>
              <a:rPr b="1" lang="sk"/>
              <a:t>git rm file</a:t>
            </a:r>
            <a:r>
              <a:rPr lang="sk"/>
              <a:t> → to delete the file</a:t>
            </a:r>
            <a:endParaRPr/>
          </a:p>
          <a:p>
            <a:pPr indent="-342900" lvl="0" marL="457200" rtl="0" algn="l">
              <a:spcBef>
                <a:spcPts val="0"/>
              </a:spcBef>
              <a:spcAft>
                <a:spcPts val="0"/>
              </a:spcAft>
              <a:buSzPts val="1800"/>
              <a:buChar char="●"/>
            </a:pPr>
            <a:r>
              <a:rPr lang="sk"/>
              <a:t>or with a conflict resolution tool(xxdiff, kdiff3, emerge,....)</a:t>
            </a:r>
            <a:endParaRPr/>
          </a:p>
          <a:p>
            <a:pPr indent="-317500" lvl="1" marL="914400" rtl="0" algn="l">
              <a:spcBef>
                <a:spcPts val="0"/>
              </a:spcBef>
              <a:spcAft>
                <a:spcPts val="0"/>
              </a:spcAft>
              <a:buSzPts val="1400"/>
              <a:buChar char="○"/>
            </a:pPr>
            <a:r>
              <a:rPr b="1" lang="sk"/>
              <a:t>git mergetool [ file ]</a:t>
            </a:r>
            <a:endParaRPr b="1"/>
          </a:p>
          <a:p>
            <a:pPr indent="0" lvl="0" marL="0" rtl="0" algn="l">
              <a:spcBef>
                <a:spcPts val="1200"/>
              </a:spcBef>
              <a:spcAft>
                <a:spcPts val="1200"/>
              </a:spcAft>
              <a:buNone/>
            </a:pPr>
            <a:r>
              <a:rPr lang="sk"/>
              <a:t>Then, once all conflicting files are checked in the index, you just need to run git commit to commit the merge.</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Deleting branches</a:t>
            </a:r>
            <a:endParaRPr/>
          </a:p>
        </p:txBody>
      </p:sp>
      <p:sp>
        <p:nvSpPr>
          <p:cNvPr id="416" name="Google Shape;416;p6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branch -d branch name</a:t>
            </a:r>
            <a:endParaRPr b="1"/>
          </a:p>
          <a:p>
            <a:pPr indent="-342900" lvl="0" marL="457200" rtl="0" algn="l">
              <a:spcBef>
                <a:spcPts val="0"/>
              </a:spcBef>
              <a:spcAft>
                <a:spcPts val="0"/>
              </a:spcAft>
              <a:buSzPts val="1800"/>
              <a:buChar char="●"/>
            </a:pPr>
            <a:r>
              <a:rPr lang="sk"/>
              <a:t>This command has some restrictions, it cannot delete:</a:t>
            </a:r>
            <a:endParaRPr/>
          </a:p>
          <a:p>
            <a:pPr indent="-317500" lvl="1" marL="914400" rtl="0" algn="l">
              <a:spcBef>
                <a:spcPts val="0"/>
              </a:spcBef>
              <a:spcAft>
                <a:spcPts val="0"/>
              </a:spcAft>
              <a:buSzPts val="1400"/>
              <a:buChar char="○"/>
            </a:pPr>
            <a:r>
              <a:rPr lang="sk"/>
              <a:t>the current branch (HEAD)</a:t>
            </a:r>
            <a:endParaRPr/>
          </a:p>
          <a:p>
            <a:pPr indent="-317500" lvl="1" marL="914400" rtl="0" algn="l">
              <a:spcBef>
                <a:spcPts val="0"/>
              </a:spcBef>
              <a:spcAft>
                <a:spcPts val="0"/>
              </a:spcAft>
              <a:buSzPts val="1400"/>
              <a:buChar char="○"/>
            </a:pPr>
            <a:r>
              <a:rPr lang="sk"/>
              <a:t>a branch that has not yet been merged into the current branch</a:t>
            </a:r>
            <a:endParaRPr/>
          </a:p>
        </p:txBody>
      </p:sp>
      <p:pic>
        <p:nvPicPr>
          <p:cNvPr id="417" name="Google Shape;417;p69"/>
          <p:cNvPicPr preferRelativeResize="0"/>
          <p:nvPr/>
        </p:nvPicPr>
        <p:blipFill>
          <a:blip r:embed="rId3">
            <a:alphaModFix/>
          </a:blip>
          <a:stretch>
            <a:fillRect/>
          </a:stretch>
        </p:blipFill>
        <p:spPr>
          <a:xfrm>
            <a:off x="0" y="2403284"/>
            <a:ext cx="9144000" cy="237423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Lab</a:t>
            </a:r>
            <a:endParaRPr/>
          </a:p>
        </p:txBody>
      </p:sp>
      <p:sp>
        <p:nvSpPr>
          <p:cNvPr id="423" name="Google Shape;423;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u="sng">
                <a:solidFill>
                  <a:schemeClr val="hlink"/>
                </a:solidFill>
                <a:hlinkClick r:id="rId3"/>
              </a:rPr>
              <a:t>http://zeus.fei.tuke.sk/git/git2.html</a:t>
            </a:r>
            <a:endParaRPr/>
          </a:p>
          <a:p>
            <a:pPr indent="-342900" lvl="0" marL="457200" rtl="0" algn="l">
              <a:spcBef>
                <a:spcPts val="0"/>
              </a:spcBef>
              <a:spcAft>
                <a:spcPts val="0"/>
              </a:spcAft>
              <a:buSzPts val="1800"/>
              <a:buChar char="●"/>
            </a:pPr>
            <a:r>
              <a:rPr lang="sk" u="sng">
                <a:solidFill>
                  <a:schemeClr val="hlink"/>
                </a:solidFill>
                <a:hlinkClick r:id="rId4"/>
              </a:rPr>
              <a:t>http://zeus.fei.tuke.sk/git/git3.html</a:t>
            </a:r>
            <a:endParaRPr/>
          </a:p>
          <a:p>
            <a:pPr indent="-342900" lvl="0" marL="457200" rtl="0" algn="l">
              <a:spcBef>
                <a:spcPts val="0"/>
              </a:spcBef>
              <a:spcAft>
                <a:spcPts val="0"/>
              </a:spcAft>
              <a:buSzPts val="1800"/>
              <a:buChar char="●"/>
            </a:pPr>
            <a:r>
              <a:rPr lang="sk" u="sng">
                <a:solidFill>
                  <a:schemeClr val="hlink"/>
                </a:solidFill>
                <a:hlinkClick r:id="rId5"/>
              </a:rPr>
              <a:t>https://docs.google.com/document/d/1L2aJyPvGiZxK5_X_v1EaLUOQhKrl2QO2P_Vc5mRfAdU/edit?usp=sharing</a:t>
            </a:r>
            <a:endParaRPr/>
          </a:p>
          <a:p>
            <a:pPr indent="0" lvl="0" marL="0" rtl="0" algn="l">
              <a:spcBef>
                <a:spcPts val="1200"/>
              </a:spcBef>
              <a:spcAft>
                <a:spcPts val="1200"/>
              </a:spcAft>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1"/>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sk"/>
              <a:t>GitLab</a:t>
            </a:r>
            <a:endParaRPr/>
          </a:p>
        </p:txBody>
      </p:sp>
      <p:sp>
        <p:nvSpPr>
          <p:cNvPr id="429" name="Google Shape;429;p71"/>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sk"/>
              <a:t>Sign In</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72"/>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sk"/>
              <a:t>Interacting with a remote</a:t>
            </a:r>
            <a:endParaRPr/>
          </a:p>
          <a:p>
            <a:pPr indent="0" lvl="0" marL="0" rtl="0" algn="l">
              <a:spcBef>
                <a:spcPts val="0"/>
              </a:spcBef>
              <a:spcAft>
                <a:spcPts val="0"/>
              </a:spcAft>
              <a:buNone/>
            </a:pPr>
            <a:r>
              <a:rPr lang="sk"/>
              <a:t>repository</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Simple workflow (Centralised)</a:t>
            </a:r>
            <a:endParaRPr/>
          </a:p>
        </p:txBody>
      </p:sp>
      <p:pic>
        <p:nvPicPr>
          <p:cNvPr id="440" name="Google Shape;440;p73"/>
          <p:cNvPicPr preferRelativeResize="0"/>
          <p:nvPr/>
        </p:nvPicPr>
        <p:blipFill>
          <a:blip r:embed="rId3">
            <a:alphaModFix/>
          </a:blip>
          <a:stretch>
            <a:fillRect/>
          </a:stretch>
        </p:blipFill>
        <p:spPr>
          <a:xfrm>
            <a:off x="1479398" y="1152475"/>
            <a:ext cx="6185217" cy="39910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Team Workflow</a:t>
            </a:r>
            <a:endParaRPr/>
          </a:p>
        </p:txBody>
      </p:sp>
      <p:sp>
        <p:nvSpPr>
          <p:cNvPr id="446" name="Google Shape;446;p7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u="sng">
                <a:solidFill>
                  <a:schemeClr val="hlink"/>
                </a:solidFill>
                <a:hlinkClick r:id="rId3"/>
              </a:rPr>
              <a:t>https://docs.google.com/document/d/1f4-pzqwKgQNVIVGBc__hfiKylNBI5Xig7bBSe5p-ll0/edit?usp=sharing</a:t>
            </a:r>
            <a:endParaRPr/>
          </a:p>
          <a:p>
            <a:pPr indent="0" lvl="0" marL="0" rtl="0" algn="l">
              <a:spcBef>
                <a:spcPts val="1200"/>
              </a:spcBef>
              <a:spcAft>
                <a:spcPts val="1200"/>
              </a:spcAft>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How git handles remote repositories</a:t>
            </a:r>
            <a:endParaRPr/>
          </a:p>
        </p:txBody>
      </p:sp>
      <p:sp>
        <p:nvSpPr>
          <p:cNvPr id="452" name="Google Shape;452;p7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a:t>It is possible to work with </a:t>
            </a:r>
            <a:r>
              <a:rPr b="1" lang="sk"/>
              <a:t>multiple</a:t>
            </a:r>
            <a:r>
              <a:rPr lang="sk"/>
              <a:t> </a:t>
            </a:r>
            <a:r>
              <a:rPr b="1" lang="sk"/>
              <a:t>remote repositories</a:t>
            </a:r>
            <a:endParaRPr b="1"/>
          </a:p>
          <a:p>
            <a:pPr indent="-342900" lvl="0" marL="457200" rtl="0" algn="l">
              <a:spcBef>
                <a:spcPts val="0"/>
              </a:spcBef>
              <a:spcAft>
                <a:spcPts val="0"/>
              </a:spcAft>
              <a:buSzPts val="1800"/>
              <a:buChar char="●"/>
            </a:pPr>
            <a:r>
              <a:rPr lang="sk"/>
              <a:t>Each remote repository is identified with a </a:t>
            </a:r>
            <a:r>
              <a:rPr b="1" lang="sk"/>
              <a:t>local alias</a:t>
            </a:r>
            <a:r>
              <a:rPr lang="sk"/>
              <a:t>. When working with a unique remote repository, it is usually named </a:t>
            </a:r>
            <a:r>
              <a:rPr b="1" lang="sk"/>
              <a:t>origin</a:t>
            </a:r>
            <a:endParaRPr b="1"/>
          </a:p>
          <a:p>
            <a:pPr indent="-342900" lvl="0" marL="457200" rtl="0" algn="l">
              <a:spcBef>
                <a:spcPts val="0"/>
              </a:spcBef>
              <a:spcAft>
                <a:spcPts val="0"/>
              </a:spcAft>
              <a:buSzPts val="1800"/>
              <a:buChar char="●"/>
            </a:pPr>
            <a:r>
              <a:rPr lang="sk"/>
              <a:t>Remote repositories are mirrored within the local repository</a:t>
            </a:r>
            <a:endParaRPr/>
          </a:p>
          <a:p>
            <a:pPr indent="-342900" lvl="0" marL="457200" rtl="0" algn="l">
              <a:spcBef>
                <a:spcPts val="0"/>
              </a:spcBef>
              <a:spcAft>
                <a:spcPts val="0"/>
              </a:spcAft>
              <a:buSzPts val="1800"/>
              <a:buChar char="●"/>
            </a:pPr>
            <a:r>
              <a:rPr lang="sk"/>
              <a:t>Remote branches are mapped in a separate namespace:</a:t>
            </a:r>
            <a:endParaRPr/>
          </a:p>
          <a:p>
            <a:pPr indent="-317500" lvl="1" marL="914400" rtl="0" algn="l">
              <a:spcBef>
                <a:spcPts val="0"/>
              </a:spcBef>
              <a:spcAft>
                <a:spcPts val="0"/>
              </a:spcAft>
              <a:buSzPts val="1400"/>
              <a:buChar char="○"/>
            </a:pPr>
            <a:r>
              <a:rPr b="1" lang="sk"/>
              <a:t>remote/name/branch</a:t>
            </a:r>
            <a:endParaRPr b="1"/>
          </a:p>
          <a:p>
            <a:pPr indent="-317500" lvl="1" marL="914400" rtl="0" algn="l">
              <a:spcBef>
                <a:spcPts val="0"/>
              </a:spcBef>
              <a:spcAft>
                <a:spcPts val="0"/>
              </a:spcAft>
              <a:buSzPts val="1400"/>
              <a:buChar char="○"/>
            </a:pPr>
            <a:r>
              <a:rPr b="1" lang="sk"/>
              <a:t>master</a:t>
            </a:r>
            <a:r>
              <a:rPr lang="sk"/>
              <a:t> refers to the local master branch</a:t>
            </a:r>
            <a:endParaRPr/>
          </a:p>
          <a:p>
            <a:pPr indent="-317500" lvl="1" marL="914400" rtl="0" algn="l">
              <a:spcBef>
                <a:spcPts val="0"/>
              </a:spcBef>
              <a:spcAft>
                <a:spcPts val="0"/>
              </a:spcAft>
              <a:buSzPts val="1400"/>
              <a:buChar char="○"/>
            </a:pPr>
            <a:r>
              <a:rPr b="1" lang="sk"/>
              <a:t>remote/origin/master</a:t>
            </a:r>
            <a:r>
              <a:rPr lang="sk"/>
              <a:t> refers to the master branch of the remote repository named origin</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Adding a remote repository</a:t>
            </a:r>
            <a:endParaRPr/>
          </a:p>
        </p:txBody>
      </p:sp>
      <p:sp>
        <p:nvSpPr>
          <p:cNvPr id="458" name="Google Shape;458;p7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remote add name url</a:t>
            </a:r>
            <a:endParaRPr b="1"/>
          </a:p>
          <a:p>
            <a:pPr indent="-317500" lvl="1" marL="914400" rtl="0" algn="l">
              <a:spcBef>
                <a:spcPts val="0"/>
              </a:spcBef>
              <a:spcAft>
                <a:spcPts val="0"/>
              </a:spcAft>
              <a:buSzPts val="1400"/>
              <a:buChar char="○"/>
            </a:pPr>
            <a:r>
              <a:rPr lang="sk"/>
              <a:t>name is a local alias identifying the remote repository</a:t>
            </a:r>
            <a:endParaRPr/>
          </a:p>
          <a:p>
            <a:pPr indent="-317500" lvl="1" marL="914400" rtl="0" algn="l">
              <a:spcBef>
                <a:spcPts val="0"/>
              </a:spcBef>
              <a:spcAft>
                <a:spcPts val="0"/>
              </a:spcAft>
              <a:buSzPts val="1400"/>
              <a:buChar char="○"/>
            </a:pPr>
            <a:r>
              <a:rPr lang="sk"/>
              <a:t>url is the location of the remote repository</a:t>
            </a:r>
            <a:endParaRPr/>
          </a:p>
        </p:txBody>
      </p:sp>
      <p:pic>
        <p:nvPicPr>
          <p:cNvPr id="459" name="Google Shape;459;p76"/>
          <p:cNvPicPr preferRelativeResize="0"/>
          <p:nvPr/>
        </p:nvPicPr>
        <p:blipFill>
          <a:blip r:embed="rId3">
            <a:alphaModFix/>
          </a:blip>
          <a:stretch>
            <a:fillRect/>
          </a:stretch>
        </p:blipFill>
        <p:spPr>
          <a:xfrm>
            <a:off x="623400" y="2571750"/>
            <a:ext cx="8208899" cy="11176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Pushing (uploading) local changes to the remote repository</a:t>
            </a:r>
            <a:endParaRPr/>
          </a:p>
        </p:txBody>
      </p:sp>
      <p:sp>
        <p:nvSpPr>
          <p:cNvPr id="465" name="Google Shape;465;p7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42900" lvl="0" marL="457200" rtl="0" algn="l">
              <a:spcBef>
                <a:spcPts val="1200"/>
              </a:spcBef>
              <a:spcAft>
                <a:spcPts val="0"/>
              </a:spcAft>
              <a:buSzPts val="1800"/>
              <a:buChar char="●"/>
            </a:pPr>
            <a:r>
              <a:rPr b="1" lang="sk"/>
              <a:t>git push</a:t>
            </a:r>
            <a:endParaRPr b="1"/>
          </a:p>
          <a:p>
            <a:pPr indent="-317500" lvl="1" marL="914400" rtl="0" algn="l">
              <a:spcBef>
                <a:spcPts val="0"/>
              </a:spcBef>
              <a:spcAft>
                <a:spcPts val="0"/>
              </a:spcAft>
              <a:buSzPts val="1400"/>
              <a:buChar char="○"/>
            </a:pPr>
            <a:r>
              <a:rPr lang="sk"/>
              <a:t>git push examines the current branch, then:</a:t>
            </a:r>
            <a:endParaRPr/>
          </a:p>
          <a:p>
            <a:pPr indent="-317500" lvl="2" marL="1371600" rtl="0" algn="l">
              <a:spcBef>
                <a:spcPts val="0"/>
              </a:spcBef>
              <a:spcAft>
                <a:spcPts val="0"/>
              </a:spcAft>
              <a:buSzPts val="1400"/>
              <a:buChar char="■"/>
            </a:pPr>
            <a:r>
              <a:rPr lang="sk"/>
              <a:t>if the branch is tracking an upstream branch, then the local changes (commits) are propagated to the remote branch</a:t>
            </a:r>
            <a:endParaRPr/>
          </a:p>
          <a:p>
            <a:pPr indent="-317500" lvl="2" marL="1371600" rtl="0" algn="l">
              <a:spcBef>
                <a:spcPts val="0"/>
              </a:spcBef>
              <a:spcAft>
                <a:spcPts val="0"/>
              </a:spcAft>
              <a:buSzPts val="1400"/>
              <a:buChar char="■"/>
            </a:pPr>
            <a:r>
              <a:rPr lang="sk"/>
              <a:t>if not, then nothing is sent (new branches created locally are considered private by default)</a:t>
            </a:r>
            <a:endParaRPr/>
          </a:p>
          <a:p>
            <a:pPr indent="-317500" lvl="1" marL="914400" rtl="0" algn="l">
              <a:spcBef>
                <a:spcPts val="0"/>
              </a:spcBef>
              <a:spcAft>
                <a:spcPts val="0"/>
              </a:spcAft>
              <a:buSzPts val="1400"/>
              <a:buChar char="○"/>
            </a:pPr>
            <a:r>
              <a:rPr lang="sk"/>
              <a:t>In case of conflict </a:t>
            </a:r>
            <a:r>
              <a:rPr b="1" lang="sk"/>
              <a:t>git push</a:t>
            </a:r>
            <a:r>
              <a:rPr lang="sk"/>
              <a:t> will fail and require to run </a:t>
            </a:r>
            <a:r>
              <a:rPr b="1" lang="sk"/>
              <a:t>git pull</a:t>
            </a:r>
            <a:r>
              <a:rPr lang="sk"/>
              <a:t> first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Pushing a new branch to the remote repository</a:t>
            </a:r>
            <a:endParaRPr/>
          </a:p>
        </p:txBody>
      </p:sp>
      <p:sp>
        <p:nvSpPr>
          <p:cNvPr id="471" name="Google Shape;471;p7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42900" lvl="0" marL="457200" rtl="0" algn="l">
              <a:spcBef>
                <a:spcPts val="1200"/>
              </a:spcBef>
              <a:spcAft>
                <a:spcPts val="0"/>
              </a:spcAft>
              <a:buSzPts val="1800"/>
              <a:buChar char="●"/>
            </a:pPr>
            <a:r>
              <a:rPr b="1" lang="sk"/>
              <a:t>git push -u destination repository ref [ref . . . ]</a:t>
            </a:r>
            <a:endParaRPr b="1"/>
          </a:p>
          <a:p>
            <a:pPr indent="-317500" lvl="1" marL="914400" rtl="0" algn="l">
              <a:spcBef>
                <a:spcPts val="0"/>
              </a:spcBef>
              <a:spcAft>
                <a:spcPts val="0"/>
              </a:spcAft>
              <a:buSzPts val="1400"/>
              <a:buChar char="○"/>
            </a:pPr>
            <a:r>
              <a:rPr lang="sk"/>
              <a:t>explicit variant of git push: the local reference ref (a branch or a tag) is pushed to the remote destination repository</a:t>
            </a:r>
            <a:endParaRPr/>
          </a:p>
          <a:p>
            <a:pPr indent="-317500" lvl="1" marL="914400" rtl="0" algn="l">
              <a:spcBef>
                <a:spcPts val="0"/>
              </a:spcBef>
              <a:spcAft>
                <a:spcPts val="0"/>
              </a:spcAft>
              <a:buSzPts val="1400"/>
              <a:buChar char="○"/>
            </a:pPr>
            <a:r>
              <a:rPr lang="sk"/>
              <a:t>-u/--set-upstream configures the local branch to track the remote branch</a:t>
            </a:r>
            <a:endParaRPr/>
          </a:p>
        </p:txBody>
      </p:sp>
      <p:pic>
        <p:nvPicPr>
          <p:cNvPr id="472" name="Google Shape;472;p78"/>
          <p:cNvPicPr preferRelativeResize="0"/>
          <p:nvPr/>
        </p:nvPicPr>
        <p:blipFill>
          <a:blip r:embed="rId3">
            <a:alphaModFix/>
          </a:blip>
          <a:stretch>
            <a:fillRect/>
          </a:stretch>
        </p:blipFill>
        <p:spPr>
          <a:xfrm>
            <a:off x="311700" y="2994100"/>
            <a:ext cx="8520601" cy="192047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Fetching (downloading) changes from the remote repository</a:t>
            </a:r>
            <a:endParaRPr/>
          </a:p>
        </p:txBody>
      </p:sp>
      <p:sp>
        <p:nvSpPr>
          <p:cNvPr id="478" name="Google Shape;478;p7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42900" lvl="0" marL="457200" rtl="0" algn="l">
              <a:spcBef>
                <a:spcPts val="1200"/>
              </a:spcBef>
              <a:spcAft>
                <a:spcPts val="0"/>
              </a:spcAft>
              <a:buSzPts val="1800"/>
              <a:buChar char="●"/>
            </a:pPr>
            <a:r>
              <a:rPr b="1" lang="sk"/>
              <a:t>git fetch</a:t>
            </a:r>
            <a:r>
              <a:rPr lang="sk"/>
              <a:t> updates the local mirror of the remote repository</a:t>
            </a:r>
            <a:endParaRPr/>
          </a:p>
          <a:p>
            <a:pPr indent="-317500" lvl="1" marL="914400" rtl="0" algn="l">
              <a:spcBef>
                <a:spcPts val="0"/>
              </a:spcBef>
              <a:spcAft>
                <a:spcPts val="0"/>
              </a:spcAft>
              <a:buSzPts val="1400"/>
              <a:buChar char="○"/>
            </a:pPr>
            <a:r>
              <a:rPr lang="sk"/>
              <a:t>it downloads the new commits from the remote repository</a:t>
            </a:r>
            <a:endParaRPr/>
          </a:p>
          <a:p>
            <a:pPr indent="-317500" lvl="1" marL="914400" rtl="0" algn="l">
              <a:spcBef>
                <a:spcPts val="0"/>
              </a:spcBef>
              <a:spcAft>
                <a:spcPts val="0"/>
              </a:spcAft>
              <a:buSzPts val="1400"/>
              <a:buChar char="○"/>
            </a:pPr>
            <a:r>
              <a:rPr lang="sk"/>
              <a:t>it updates the references remote/remote name/* to match their counterpart in the remote repository.</a:t>
            </a:r>
            <a:endParaRPr/>
          </a:p>
          <a:p>
            <a:pPr indent="0" lvl="0" marL="914400" rtl="0" algn="l">
              <a:spcBef>
                <a:spcPts val="1200"/>
              </a:spcBef>
              <a:spcAft>
                <a:spcPts val="1200"/>
              </a:spcAft>
              <a:buNone/>
            </a:pPr>
            <a:r>
              <a:rPr lang="sk"/>
              <a:t>Example: the branch remote/origin/master in the local repository is updated to match the new position of the branch master in the remote repository</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Merging remote changes into the current local branch</a:t>
            </a:r>
            <a:endParaRPr/>
          </a:p>
        </p:txBody>
      </p:sp>
      <p:sp>
        <p:nvSpPr>
          <p:cNvPr id="484" name="Google Shape;484;p8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42900" lvl="0" marL="457200" rtl="0" algn="l">
              <a:spcBef>
                <a:spcPts val="1200"/>
              </a:spcBef>
              <a:spcAft>
                <a:spcPts val="0"/>
              </a:spcAft>
              <a:buSzPts val="1800"/>
              <a:buChar char="●"/>
            </a:pPr>
            <a:r>
              <a:rPr lang="sk"/>
              <a:t>Changes in the remote repository can be merged </a:t>
            </a:r>
            <a:r>
              <a:rPr lang="sk"/>
              <a:t>explicitly</a:t>
            </a:r>
            <a:r>
              <a:rPr lang="sk"/>
              <a:t> into the local branch by running </a:t>
            </a:r>
            <a:r>
              <a:rPr b="1" lang="sk"/>
              <a:t>git merge</a:t>
            </a:r>
            <a:endParaRPr b="1"/>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sk"/>
              <a:t>In practice, it is more convenient to use </a:t>
            </a:r>
            <a:r>
              <a:rPr b="1" lang="sk"/>
              <a:t>git pull</a:t>
            </a:r>
            <a:r>
              <a:rPr lang="sk"/>
              <a:t>, which is a shortcut for </a:t>
            </a:r>
            <a:r>
              <a:rPr b="1" lang="sk"/>
              <a:t>git fetch + git merge</a:t>
            </a:r>
            <a:endParaRPr b="1"/>
          </a:p>
        </p:txBody>
      </p:sp>
      <p:pic>
        <p:nvPicPr>
          <p:cNvPr id="485" name="Google Shape;485;p80"/>
          <p:cNvPicPr preferRelativeResize="0"/>
          <p:nvPr/>
        </p:nvPicPr>
        <p:blipFill>
          <a:blip r:embed="rId3">
            <a:alphaModFix/>
          </a:blip>
          <a:stretch>
            <a:fillRect/>
          </a:stretch>
        </p:blipFill>
        <p:spPr>
          <a:xfrm>
            <a:off x="771300" y="2397425"/>
            <a:ext cx="7375551" cy="99512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8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Importing a new remote branch</a:t>
            </a:r>
            <a:endParaRPr/>
          </a:p>
        </p:txBody>
      </p:sp>
      <p:sp>
        <p:nvSpPr>
          <p:cNvPr id="491" name="Google Shape;491;p8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checkout branch_name</a:t>
            </a:r>
            <a:endParaRPr b="1"/>
          </a:p>
          <a:p>
            <a:pPr indent="-342900" lvl="0" marL="457200" rtl="0" algn="l">
              <a:spcBef>
                <a:spcPts val="0"/>
              </a:spcBef>
              <a:spcAft>
                <a:spcPts val="0"/>
              </a:spcAft>
              <a:buSzPts val="1800"/>
              <a:buChar char="●"/>
            </a:pPr>
            <a:r>
              <a:rPr lang="sk"/>
              <a:t>If the branch name does not exist locally, then GIT looks for it in the remote repositories. If it finds it, then it creates the local branch and configures it to track the remote branch.</a:t>
            </a:r>
            <a:endParaRPr/>
          </a:p>
          <a:p>
            <a:pPr indent="0" lvl="0" marL="0" rtl="0" algn="l">
              <a:spcBef>
                <a:spcPts val="1200"/>
              </a:spcBef>
              <a:spcAft>
                <a:spcPts val="1200"/>
              </a:spcAft>
              <a:buNone/>
            </a:pPr>
            <a:r>
              <a:t/>
            </a:r>
            <a:endParaRPr/>
          </a:p>
        </p:txBody>
      </p:sp>
      <p:pic>
        <p:nvPicPr>
          <p:cNvPr id="492" name="Google Shape;492;p81"/>
          <p:cNvPicPr preferRelativeResize="0"/>
          <p:nvPr/>
        </p:nvPicPr>
        <p:blipFill>
          <a:blip r:embed="rId3">
            <a:alphaModFix/>
          </a:blip>
          <a:stretch>
            <a:fillRect/>
          </a:stretch>
        </p:blipFill>
        <p:spPr>
          <a:xfrm>
            <a:off x="1111913" y="2610426"/>
            <a:ext cx="6920175" cy="24230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8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Cloning a repository</a:t>
            </a:r>
            <a:endParaRPr/>
          </a:p>
        </p:txBody>
      </p:sp>
      <p:sp>
        <p:nvSpPr>
          <p:cNvPr id="498" name="Google Shape;498;p8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clone url [ directory ]</a:t>
            </a:r>
            <a:endParaRPr b="1"/>
          </a:p>
          <a:p>
            <a:pPr indent="-317500" lvl="1" marL="914400" rtl="0" algn="l">
              <a:spcBef>
                <a:spcPts val="0"/>
              </a:spcBef>
              <a:spcAft>
                <a:spcPts val="0"/>
              </a:spcAft>
              <a:buSzPts val="1400"/>
              <a:buChar char="○"/>
            </a:pPr>
            <a:r>
              <a:rPr b="1" lang="sk"/>
              <a:t>git clone</a:t>
            </a:r>
            <a:r>
              <a:rPr lang="sk"/>
              <a:t> makes a local copy of a remote repository and configures it as its origin remote repository</a:t>
            </a:r>
            <a:endParaRPr/>
          </a:p>
          <a:p>
            <a:pPr indent="-317500" lvl="1" marL="914400" rtl="0" algn="l">
              <a:spcBef>
                <a:spcPts val="0"/>
              </a:spcBef>
              <a:spcAft>
                <a:spcPts val="0"/>
              </a:spcAft>
              <a:buSzPts val="1400"/>
              <a:buChar char="○"/>
            </a:pPr>
            <a:r>
              <a:rPr b="1" lang="sk"/>
              <a:t>git clone</a:t>
            </a:r>
            <a:r>
              <a:rPr lang="sk"/>
              <a:t> is a shortcut for the following sequence:</a:t>
            </a:r>
            <a:endParaRPr/>
          </a:p>
          <a:p>
            <a:pPr indent="-317500" lvl="2" marL="1371600" rtl="0" algn="l">
              <a:spcBef>
                <a:spcPts val="0"/>
              </a:spcBef>
              <a:spcAft>
                <a:spcPts val="0"/>
              </a:spcAft>
              <a:buSzPts val="1400"/>
              <a:buAutoNum type="romanLcPeriod"/>
            </a:pPr>
            <a:r>
              <a:rPr lang="sk"/>
              <a:t>git init directory</a:t>
            </a:r>
            <a:endParaRPr/>
          </a:p>
          <a:p>
            <a:pPr indent="-317500" lvl="2" marL="1371600" rtl="0" algn="l">
              <a:spcBef>
                <a:spcPts val="0"/>
              </a:spcBef>
              <a:spcAft>
                <a:spcPts val="0"/>
              </a:spcAft>
              <a:buSzPts val="1400"/>
              <a:buAutoNum type="romanLcPeriod"/>
            </a:pPr>
            <a:r>
              <a:rPr lang="sk"/>
              <a:t>cd directory</a:t>
            </a:r>
            <a:endParaRPr/>
          </a:p>
          <a:p>
            <a:pPr indent="-317500" lvl="2" marL="1371600" rtl="0" algn="l">
              <a:spcBef>
                <a:spcPts val="0"/>
              </a:spcBef>
              <a:spcAft>
                <a:spcPts val="0"/>
              </a:spcAft>
              <a:buSzPts val="1400"/>
              <a:buAutoNum type="romanLcPeriod"/>
            </a:pPr>
            <a:r>
              <a:rPr lang="sk"/>
              <a:t>git remote add origin url</a:t>
            </a:r>
            <a:endParaRPr/>
          </a:p>
          <a:p>
            <a:pPr indent="-317500" lvl="2" marL="1371600" rtl="0" algn="l">
              <a:spcBef>
                <a:spcPts val="0"/>
              </a:spcBef>
              <a:spcAft>
                <a:spcPts val="0"/>
              </a:spcAft>
              <a:buSzPts val="1400"/>
              <a:buAutoNum type="romanLcPeriod"/>
            </a:pPr>
            <a:r>
              <a:rPr lang="sk"/>
              <a:t>git fetch</a:t>
            </a:r>
            <a:endParaRPr/>
          </a:p>
          <a:p>
            <a:pPr indent="-317500" lvl="2" marL="1371600" rtl="0" algn="l">
              <a:spcBef>
                <a:spcPts val="0"/>
              </a:spcBef>
              <a:spcAft>
                <a:spcPts val="0"/>
              </a:spcAft>
              <a:buSzPts val="1400"/>
              <a:buAutoNum type="romanLcPeriod"/>
            </a:pPr>
            <a:r>
              <a:rPr lang="sk"/>
              <a:t>git checkout master</a:t>
            </a:r>
            <a:endParaRPr/>
          </a:p>
          <a:p>
            <a:pPr indent="-317500" lvl="1" marL="914400" rtl="0" algn="l">
              <a:spcBef>
                <a:spcPts val="0"/>
              </a:spcBef>
              <a:spcAft>
                <a:spcPts val="0"/>
              </a:spcAft>
              <a:buSzPts val="1400"/>
              <a:buChar char="○"/>
            </a:pPr>
            <a:r>
              <a:rPr lang="sk"/>
              <a:t>In practice you will rarely use </a:t>
            </a:r>
            <a:r>
              <a:rPr b="1" lang="sk"/>
              <a:t>git init</a:t>
            </a:r>
            <a:r>
              <a:rPr lang="sk"/>
              <a:t>, </a:t>
            </a:r>
            <a:r>
              <a:rPr b="1" lang="sk"/>
              <a:t>git remote</a:t>
            </a:r>
            <a:r>
              <a:rPr lang="sk"/>
              <a:t> and </a:t>
            </a:r>
            <a:r>
              <a:rPr b="1" lang="sk"/>
              <a:t>git fetch</a:t>
            </a:r>
            <a:r>
              <a:rPr lang="sk"/>
              <a:t> directly, but rather use higher-level commands:</a:t>
            </a:r>
            <a:endParaRPr/>
          </a:p>
          <a:p>
            <a:pPr indent="-317500" lvl="2" marL="1371600" rtl="0" algn="l">
              <a:spcBef>
                <a:spcPts val="0"/>
              </a:spcBef>
              <a:spcAft>
                <a:spcPts val="0"/>
              </a:spcAft>
              <a:buSzPts val="1400"/>
              <a:buAutoNum type="romanLcPeriod"/>
            </a:pPr>
            <a:r>
              <a:rPr b="1" lang="sk"/>
              <a:t>git clone</a:t>
            </a:r>
            <a:r>
              <a:rPr lang="sk"/>
              <a:t> and </a:t>
            </a:r>
            <a:r>
              <a:rPr b="1" lang="sk"/>
              <a:t>git pull</a:t>
            </a:r>
            <a:r>
              <a:rPr lang="sk"/>
              <a:t>.</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Remote example</a:t>
            </a:r>
            <a:endParaRPr/>
          </a:p>
        </p:txBody>
      </p:sp>
      <p:sp>
        <p:nvSpPr>
          <p:cNvPr id="504" name="Google Shape;504;p8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u="sng">
                <a:solidFill>
                  <a:schemeClr val="hlink"/>
                </a:solidFill>
                <a:hlinkClick r:id="rId3"/>
              </a:rPr>
              <a:t>https://docs.google.com/document/d/1TNn7XZ8jqPFiXWuFIm8v0RYK-vkUWC4OIofi3NamlcI/edit?usp=sharing</a:t>
            </a:r>
            <a:endParaRPr/>
          </a:p>
          <a:p>
            <a:pPr indent="0" lvl="0" marL="0" rtl="0" algn="l">
              <a:spcBef>
                <a:spcPts val="1200"/>
              </a:spcBef>
              <a:spcAft>
                <a:spcPts val="1200"/>
              </a:spcAft>
              <a:buNone/>
            </a:pPr>
            <a:r>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8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sk"/>
              <a:t>Typical Workflow</a:t>
            </a:r>
            <a:endParaRPr b="1"/>
          </a:p>
        </p:txBody>
      </p:sp>
      <p:sp>
        <p:nvSpPr>
          <p:cNvPr id="510" name="Google Shape;510;p8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11" name="Google Shape;511;p84"/>
          <p:cNvPicPr preferRelativeResize="0"/>
          <p:nvPr/>
        </p:nvPicPr>
        <p:blipFill>
          <a:blip r:embed="rId3">
            <a:alphaModFix/>
          </a:blip>
          <a:stretch>
            <a:fillRect/>
          </a:stretch>
        </p:blipFill>
        <p:spPr>
          <a:xfrm>
            <a:off x="2733869" y="1152475"/>
            <a:ext cx="3676267" cy="399102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8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Lab</a:t>
            </a:r>
            <a:endParaRPr/>
          </a:p>
        </p:txBody>
      </p:sp>
      <p:sp>
        <p:nvSpPr>
          <p:cNvPr id="517" name="Google Shape;517;p8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a:t>Gitlab Login</a:t>
            </a:r>
            <a:endParaRPr/>
          </a:p>
          <a:p>
            <a:pPr indent="-342900" lvl="0" marL="457200" rtl="0" algn="l">
              <a:spcBef>
                <a:spcPts val="0"/>
              </a:spcBef>
              <a:spcAft>
                <a:spcPts val="0"/>
              </a:spcAft>
              <a:buSzPts val="1800"/>
              <a:buChar char="●"/>
            </a:pPr>
            <a:r>
              <a:rPr lang="sk" u="sng">
                <a:solidFill>
                  <a:schemeClr val="hlink"/>
                </a:solidFill>
                <a:hlinkClick r:id="rId3"/>
              </a:rPr>
              <a:t>https://docs.google.com/document/d/1mNCKAjU-4GRi9o_TcUMRRzgRQrTdJkvVf6_L6iFZyG0/edit?usp=sharing</a:t>
            </a:r>
            <a:endParaRPr/>
          </a:p>
          <a:p>
            <a:pPr indent="-342900" lvl="0" marL="457200" rtl="0" algn="l">
              <a:spcBef>
                <a:spcPts val="0"/>
              </a:spcBef>
              <a:spcAft>
                <a:spcPts val="0"/>
              </a:spcAft>
              <a:buSzPts val="1800"/>
              <a:buChar char="●"/>
            </a:pPr>
            <a:r>
              <a:rPr lang="sk" u="sng">
                <a:solidFill>
                  <a:schemeClr val="hlink"/>
                </a:solidFill>
                <a:hlinkClick r:id="rId4"/>
              </a:rPr>
              <a:t>https://docs.google.com/document/d/1xstPGwzzC0rDIFechTEYKc66XssYd7G07lVPscSKhkY/edit?usp=sharing</a:t>
            </a:r>
            <a:endParaRPr/>
          </a:p>
          <a:p>
            <a:pPr indent="0" lvl="0" marL="0" rtl="0" algn="l">
              <a:spcBef>
                <a:spcPts val="1200"/>
              </a:spcBef>
              <a:spcAft>
                <a:spcPts val="1200"/>
              </a:spcAft>
              <a:buNone/>
            </a:pPr>
            <a:r>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86"/>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sk"/>
              <a:t>Extras</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8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Git stash</a:t>
            </a:r>
            <a:endParaRPr/>
          </a:p>
        </p:txBody>
      </p:sp>
      <p:sp>
        <p:nvSpPr>
          <p:cNvPr id="528" name="Google Shape;528;p8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stash</a:t>
            </a:r>
            <a:endParaRPr b="1"/>
          </a:p>
          <a:p>
            <a:pPr indent="-317500" lvl="1" marL="914400" rtl="0" algn="l">
              <a:spcBef>
                <a:spcPts val="0"/>
              </a:spcBef>
              <a:spcAft>
                <a:spcPts val="0"/>
              </a:spcAft>
              <a:buSzPts val="1400"/>
              <a:buChar char="○"/>
            </a:pPr>
            <a:r>
              <a:rPr lang="sk"/>
              <a:t>temporarily shelves (or stashes) changes you've made to your working copy so you can work on something else, and then come back and re-apply them later on</a:t>
            </a:r>
            <a:endParaRPr/>
          </a:p>
          <a:p>
            <a:pPr indent="-342900" lvl="0" marL="457200" rtl="0" algn="l">
              <a:spcBef>
                <a:spcPts val="0"/>
              </a:spcBef>
              <a:spcAft>
                <a:spcPts val="0"/>
              </a:spcAft>
              <a:buSzPts val="1800"/>
              <a:buChar char="●"/>
            </a:pPr>
            <a:r>
              <a:rPr b="1" lang="sk"/>
              <a:t>git stash pop(apply)</a:t>
            </a:r>
            <a:endParaRPr b="1"/>
          </a:p>
          <a:p>
            <a:pPr indent="-317500" lvl="1" marL="914400" rtl="0" algn="l">
              <a:spcBef>
                <a:spcPts val="0"/>
              </a:spcBef>
              <a:spcAft>
                <a:spcPts val="0"/>
              </a:spcAft>
              <a:buSzPts val="1400"/>
              <a:buChar char="○"/>
            </a:pPr>
            <a:r>
              <a:rPr lang="sk"/>
              <a:t>reapply previously stashed changes</a:t>
            </a:r>
            <a:endParaRPr/>
          </a:p>
          <a:p>
            <a:pPr indent="-342900" lvl="0" marL="457200" rtl="0" algn="l">
              <a:spcBef>
                <a:spcPts val="0"/>
              </a:spcBef>
              <a:spcAft>
                <a:spcPts val="0"/>
              </a:spcAft>
              <a:buSzPts val="1800"/>
              <a:buChar char="●"/>
            </a:pPr>
            <a:r>
              <a:rPr b="1" lang="sk"/>
              <a:t>Multiple stashes</a:t>
            </a:r>
            <a:endParaRPr b="1"/>
          </a:p>
          <a:p>
            <a:pPr indent="-317500" lvl="1" marL="914400" rtl="0" algn="l">
              <a:spcBef>
                <a:spcPts val="0"/>
              </a:spcBef>
              <a:spcAft>
                <a:spcPts val="0"/>
              </a:spcAft>
              <a:buSzPts val="1400"/>
              <a:buChar char="○"/>
            </a:pPr>
            <a:r>
              <a:rPr lang="sk"/>
              <a:t>git stash</a:t>
            </a:r>
            <a:endParaRPr/>
          </a:p>
          <a:p>
            <a:pPr indent="-317500" lvl="1" marL="914400" rtl="0" algn="l">
              <a:spcBef>
                <a:spcPts val="0"/>
              </a:spcBef>
              <a:spcAft>
                <a:spcPts val="0"/>
              </a:spcAft>
              <a:buSzPts val="1400"/>
              <a:buChar char="○"/>
            </a:pPr>
            <a:r>
              <a:rPr lang="sk"/>
              <a:t>git stash</a:t>
            </a:r>
            <a:endParaRPr/>
          </a:p>
          <a:p>
            <a:pPr indent="-317500" lvl="1" marL="914400" rtl="0" algn="l">
              <a:spcBef>
                <a:spcPts val="0"/>
              </a:spcBef>
              <a:spcAft>
                <a:spcPts val="0"/>
              </a:spcAft>
              <a:buSzPts val="1400"/>
              <a:buChar char="○"/>
            </a:pPr>
            <a:r>
              <a:rPr lang="sk"/>
              <a:t>git stash list</a:t>
            </a:r>
            <a:endParaRPr/>
          </a:p>
          <a:p>
            <a:pPr indent="-317500" lvl="1" marL="914400" rtl="0" algn="l">
              <a:spcBef>
                <a:spcPts val="0"/>
              </a:spcBef>
              <a:spcAft>
                <a:spcPts val="0"/>
              </a:spcAft>
              <a:buSzPts val="1400"/>
              <a:buChar char="○"/>
            </a:pPr>
            <a:r>
              <a:rPr lang="sk"/>
              <a:t>git stash pop stash@{X}</a:t>
            </a:r>
            <a:endParaRPr/>
          </a:p>
        </p:txBody>
      </p:sp>
      <p:pic>
        <p:nvPicPr>
          <p:cNvPr id="529" name="Google Shape;529;p87"/>
          <p:cNvPicPr preferRelativeResize="0"/>
          <p:nvPr/>
        </p:nvPicPr>
        <p:blipFill>
          <a:blip r:embed="rId3">
            <a:alphaModFix/>
          </a:blip>
          <a:stretch>
            <a:fillRect/>
          </a:stretch>
        </p:blipFill>
        <p:spPr>
          <a:xfrm>
            <a:off x="4571994" y="2351069"/>
            <a:ext cx="3849700" cy="2309824"/>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8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Git tag</a:t>
            </a:r>
            <a:endParaRPr/>
          </a:p>
        </p:txBody>
      </p:sp>
      <p:sp>
        <p:nvSpPr>
          <p:cNvPr id="535" name="Google Shape;535;p8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a:t>Tags are ref's that point to specific points in Git history. Tagging is generally used to capture a point in history that is used for a marked version release (i.e. v1.0.1).</a:t>
            </a:r>
            <a:endParaRPr/>
          </a:p>
          <a:p>
            <a:pPr indent="-342900" lvl="0" marL="457200" rtl="0" algn="l">
              <a:spcBef>
                <a:spcPts val="0"/>
              </a:spcBef>
              <a:spcAft>
                <a:spcPts val="0"/>
              </a:spcAft>
              <a:buSzPts val="1800"/>
              <a:buChar char="●"/>
            </a:pPr>
            <a:r>
              <a:rPr b="1" lang="sk"/>
              <a:t>git tag &lt;tagname&gt;</a:t>
            </a:r>
            <a:endParaRPr b="1"/>
          </a:p>
          <a:p>
            <a:pPr indent="-342900" lvl="0" marL="457200" rtl="0" algn="l">
              <a:spcBef>
                <a:spcPts val="0"/>
              </a:spcBef>
              <a:spcAft>
                <a:spcPts val="0"/>
              </a:spcAft>
              <a:buSzPts val="1800"/>
              <a:buChar char="●"/>
            </a:pPr>
            <a:r>
              <a:rPr b="1" lang="sk"/>
              <a:t>git tag -a &lt;tagname&gt;</a:t>
            </a:r>
            <a:endParaRPr b="1"/>
          </a:p>
          <a:p>
            <a:pPr indent="-317500" lvl="1" marL="914400" rtl="0" algn="l">
              <a:spcBef>
                <a:spcPts val="0"/>
              </a:spcBef>
              <a:spcAft>
                <a:spcPts val="0"/>
              </a:spcAft>
              <a:buSzPts val="1400"/>
              <a:buChar char="○"/>
            </a:pPr>
            <a:r>
              <a:rPr lang="sk"/>
              <a:t>Annotated tags store extra meta data such as: the tagger name, email, and date.</a:t>
            </a:r>
            <a:endParaRPr/>
          </a:p>
          <a:p>
            <a:pPr indent="0" lvl="0" marL="0" rtl="0" algn="l">
              <a:spcBef>
                <a:spcPts val="1200"/>
              </a:spcBef>
              <a:spcAft>
                <a:spcPts val="1200"/>
              </a:spcAft>
              <a:buNone/>
            </a:pPr>
            <a:r>
              <a:t/>
            </a:r>
            <a:endParaRPr b="1"/>
          </a:p>
        </p:txBody>
      </p:sp>
      <p:pic>
        <p:nvPicPr>
          <p:cNvPr id="536" name="Google Shape;536;p88"/>
          <p:cNvPicPr preferRelativeResize="0"/>
          <p:nvPr/>
        </p:nvPicPr>
        <p:blipFill>
          <a:blip r:embed="rId3">
            <a:alphaModFix/>
          </a:blip>
          <a:stretch>
            <a:fillRect/>
          </a:stretch>
        </p:blipFill>
        <p:spPr>
          <a:xfrm>
            <a:off x="2936069" y="3082544"/>
            <a:ext cx="3271851" cy="19673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8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Rebase</a:t>
            </a:r>
            <a:endParaRPr/>
          </a:p>
        </p:txBody>
      </p:sp>
      <p:sp>
        <p:nvSpPr>
          <p:cNvPr id="542" name="Google Shape;542;p8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a:t>Rebasing is the process of moving or combining a sequence of commits to a new base commit.</a:t>
            </a:r>
            <a:endParaRPr/>
          </a:p>
          <a:p>
            <a:pPr indent="-342900" lvl="0" marL="457200" rtl="0" algn="l">
              <a:spcBef>
                <a:spcPts val="0"/>
              </a:spcBef>
              <a:spcAft>
                <a:spcPts val="0"/>
              </a:spcAft>
              <a:buSzPts val="1800"/>
              <a:buChar char="●"/>
            </a:pPr>
            <a:r>
              <a:rPr lang="sk"/>
              <a:t>The primary reason for rebasing is to maintain a linear project history.</a:t>
            </a:r>
            <a:endParaRPr/>
          </a:p>
          <a:p>
            <a:pPr indent="-342900" lvl="0" marL="457200" rtl="0" algn="l">
              <a:spcBef>
                <a:spcPts val="0"/>
              </a:spcBef>
              <a:spcAft>
                <a:spcPts val="0"/>
              </a:spcAft>
              <a:buSzPts val="1800"/>
              <a:buChar char="●"/>
            </a:pPr>
            <a:r>
              <a:rPr b="1" lang="sk"/>
              <a:t>git checkout main</a:t>
            </a:r>
            <a:endParaRPr b="1"/>
          </a:p>
          <a:p>
            <a:pPr indent="-342900" lvl="0" marL="457200" rtl="0" algn="l">
              <a:spcBef>
                <a:spcPts val="0"/>
              </a:spcBef>
              <a:spcAft>
                <a:spcPts val="0"/>
              </a:spcAft>
              <a:buSzPts val="1800"/>
              <a:buChar char="●"/>
            </a:pPr>
            <a:r>
              <a:rPr b="1" lang="sk"/>
              <a:t>git rebase [-i] develop</a:t>
            </a:r>
            <a:endParaRPr b="1"/>
          </a:p>
          <a:p>
            <a:pPr indent="0" lvl="0" marL="457200" rtl="0" algn="l">
              <a:spcBef>
                <a:spcPts val="1200"/>
              </a:spcBef>
              <a:spcAft>
                <a:spcPts val="1200"/>
              </a:spcAft>
              <a:buNone/>
            </a:pPr>
            <a:r>
              <a:t/>
            </a:r>
            <a:endParaRPr/>
          </a:p>
        </p:txBody>
      </p:sp>
      <p:pic>
        <p:nvPicPr>
          <p:cNvPr id="543" name="Google Shape;543;p89"/>
          <p:cNvPicPr preferRelativeResize="0"/>
          <p:nvPr/>
        </p:nvPicPr>
        <p:blipFill>
          <a:blip r:embed="rId3">
            <a:alphaModFix/>
          </a:blip>
          <a:stretch>
            <a:fillRect/>
          </a:stretch>
        </p:blipFill>
        <p:spPr>
          <a:xfrm>
            <a:off x="4096801" y="2366551"/>
            <a:ext cx="3438376" cy="2427425"/>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Why rebase?</a:t>
            </a:r>
            <a:endParaRPr/>
          </a:p>
        </p:txBody>
      </p:sp>
      <p:sp>
        <p:nvSpPr>
          <p:cNvPr id="549" name="Google Shape;549;p9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a:t>Creates a linear history; often cleaner and easier to read.</a:t>
            </a:r>
            <a:endParaRPr/>
          </a:p>
          <a:p>
            <a:pPr indent="-342900" lvl="0" marL="457200" rtl="0" algn="l">
              <a:spcBef>
                <a:spcPts val="0"/>
              </a:spcBef>
              <a:spcAft>
                <a:spcPts val="0"/>
              </a:spcAft>
              <a:buSzPts val="1800"/>
              <a:buChar char="●"/>
            </a:pPr>
            <a:r>
              <a:rPr lang="sk"/>
              <a:t>Reorder commits</a:t>
            </a:r>
            <a:endParaRPr/>
          </a:p>
          <a:p>
            <a:pPr indent="-342900" lvl="0" marL="457200" rtl="0" algn="l">
              <a:spcBef>
                <a:spcPts val="0"/>
              </a:spcBef>
              <a:spcAft>
                <a:spcPts val="0"/>
              </a:spcAft>
              <a:buSzPts val="1800"/>
              <a:buChar char="●"/>
            </a:pPr>
            <a:r>
              <a:rPr lang="sk"/>
              <a:t>Change commit stage/message</a:t>
            </a:r>
            <a:endParaRPr/>
          </a:p>
          <a:p>
            <a:pPr indent="-342900" lvl="0" marL="457200" rtl="0" algn="l">
              <a:spcBef>
                <a:spcPts val="0"/>
              </a:spcBef>
              <a:spcAft>
                <a:spcPts val="0"/>
              </a:spcAft>
              <a:buSzPts val="1800"/>
              <a:buChar char="●"/>
            </a:pPr>
            <a:r>
              <a:rPr lang="sk"/>
              <a:t>Drop commits</a:t>
            </a:r>
            <a:endParaRPr/>
          </a:p>
          <a:p>
            <a:pPr indent="-342900" lvl="0" marL="457200" rtl="0" algn="l">
              <a:spcBef>
                <a:spcPts val="0"/>
              </a:spcBef>
              <a:spcAft>
                <a:spcPts val="0"/>
              </a:spcAft>
              <a:buSzPts val="1800"/>
              <a:buChar char="●"/>
            </a:pPr>
            <a:r>
              <a:rPr lang="sk"/>
              <a:t>Squash multiple commits into one</a:t>
            </a:r>
            <a:endParaRPr/>
          </a:p>
          <a:p>
            <a:pPr indent="-342900" lvl="0" marL="457200" rtl="0" algn="l">
              <a:spcBef>
                <a:spcPts val="0"/>
              </a:spcBef>
              <a:spcAft>
                <a:spcPts val="0"/>
              </a:spcAft>
              <a:buSzPts val="1800"/>
              <a:buChar char="●"/>
            </a:pPr>
            <a:r>
              <a:rPr lang="sk"/>
              <a:t>But…</a:t>
            </a:r>
            <a:r>
              <a:rPr b="1" lang="sk"/>
              <a:t>DO. NOT. EVER</a:t>
            </a:r>
            <a:r>
              <a:rPr lang="sk"/>
              <a:t>. rebase anything that has already been pushed to a repo someone else has access to</a:t>
            </a:r>
            <a:endParaRPr/>
          </a:p>
          <a:p>
            <a:pPr indent="-317500" lvl="1" marL="914400" rtl="0" algn="l">
              <a:spcBef>
                <a:spcPts val="0"/>
              </a:spcBef>
              <a:spcAft>
                <a:spcPts val="0"/>
              </a:spcAft>
              <a:buSzPts val="1400"/>
              <a:buChar char="○"/>
            </a:pPr>
            <a:r>
              <a:rPr lang="sk"/>
              <a:t>Rebasing removes commits and writes new ones; but someone else might have already based their work off your old commits!</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9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Merge vs Rebase</a:t>
            </a:r>
            <a:endParaRPr/>
          </a:p>
        </p:txBody>
      </p:sp>
      <p:sp>
        <p:nvSpPr>
          <p:cNvPr id="555" name="Google Shape;555;p9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a:t>Instead of a merge, which creates a new commit originating from both branches, a rebase takes the contents of one branch after the “split” and moves them to the end of the other branch.</a:t>
            </a:r>
            <a:endParaRPr/>
          </a:p>
        </p:txBody>
      </p:sp>
      <p:pic>
        <p:nvPicPr>
          <p:cNvPr id="556" name="Google Shape;556;p91"/>
          <p:cNvPicPr preferRelativeResize="0"/>
          <p:nvPr/>
        </p:nvPicPr>
        <p:blipFill>
          <a:blip r:embed="rId3">
            <a:alphaModFix/>
          </a:blip>
          <a:stretch>
            <a:fillRect/>
          </a:stretch>
        </p:blipFill>
        <p:spPr>
          <a:xfrm>
            <a:off x="452724" y="2365774"/>
            <a:ext cx="3995549" cy="2093425"/>
          </a:xfrm>
          <a:prstGeom prst="rect">
            <a:avLst/>
          </a:prstGeom>
          <a:noFill/>
          <a:ln>
            <a:noFill/>
          </a:ln>
        </p:spPr>
      </p:pic>
      <p:pic>
        <p:nvPicPr>
          <p:cNvPr id="557" name="Google Shape;557;p91"/>
          <p:cNvPicPr preferRelativeResize="0"/>
          <p:nvPr/>
        </p:nvPicPr>
        <p:blipFill>
          <a:blip r:embed="rId4">
            <a:alphaModFix/>
          </a:blip>
          <a:stretch>
            <a:fillRect/>
          </a:stretch>
        </p:blipFill>
        <p:spPr>
          <a:xfrm>
            <a:off x="4227350" y="2455800"/>
            <a:ext cx="4337351" cy="2481575"/>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9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63" name="Google Shape;563;p9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64" name="Google Shape;564;p92"/>
          <p:cNvPicPr preferRelativeResize="0"/>
          <p:nvPr/>
        </p:nvPicPr>
        <p:blipFill>
          <a:blip r:embed="rId3">
            <a:alphaModFix/>
          </a:blip>
          <a:stretch>
            <a:fillRect/>
          </a:stretch>
        </p:blipFill>
        <p:spPr>
          <a:xfrm>
            <a:off x="0" y="477774"/>
            <a:ext cx="9144000" cy="4187952"/>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9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Some advices</a:t>
            </a:r>
            <a:endParaRPr/>
          </a:p>
        </p:txBody>
      </p:sp>
      <p:sp>
        <p:nvSpPr>
          <p:cNvPr id="570" name="Google Shape;570;p9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commit</a:t>
            </a:r>
            <a:r>
              <a:rPr lang="sk"/>
              <a:t> as </a:t>
            </a:r>
            <a:r>
              <a:rPr b="1" lang="sk"/>
              <a:t>often</a:t>
            </a:r>
            <a:r>
              <a:rPr lang="sk"/>
              <a:t> as you can (keep independent changes in separate commits)</a:t>
            </a:r>
            <a:endParaRPr/>
          </a:p>
          <a:p>
            <a:pPr indent="-342900" lvl="0" marL="457200" rtl="0" algn="l">
              <a:spcBef>
                <a:spcPts val="0"/>
              </a:spcBef>
              <a:spcAft>
                <a:spcPts val="0"/>
              </a:spcAft>
              <a:buSzPts val="1800"/>
              <a:buChar char="●"/>
            </a:pPr>
            <a:r>
              <a:rPr lang="sk"/>
              <a:t>run </a:t>
            </a:r>
            <a:r>
              <a:rPr b="1" lang="sk"/>
              <a:t>git diff </a:t>
            </a:r>
            <a:r>
              <a:rPr lang="sk"/>
              <a:t>before preparing a commit</a:t>
            </a:r>
            <a:endParaRPr/>
          </a:p>
          <a:p>
            <a:pPr indent="-342900" lvl="0" marL="457200" rtl="0" algn="l">
              <a:spcBef>
                <a:spcPts val="0"/>
              </a:spcBef>
              <a:spcAft>
                <a:spcPts val="0"/>
              </a:spcAft>
              <a:buSzPts val="1800"/>
              <a:buChar char="●"/>
            </a:pPr>
            <a:r>
              <a:rPr lang="sk"/>
              <a:t>in </a:t>
            </a:r>
            <a:r>
              <a:rPr b="1" lang="sk"/>
              <a:t>commit messages</a:t>
            </a:r>
            <a:r>
              <a:rPr lang="sk"/>
              <a:t>, describe the rationale behind of your changes (it is often more important than the change itself)</a:t>
            </a:r>
            <a:endParaRPr/>
          </a:p>
          <a:p>
            <a:pPr indent="-342900" lvl="0" marL="457200" rtl="0" algn="l">
              <a:spcBef>
                <a:spcPts val="0"/>
              </a:spcBef>
              <a:spcAft>
                <a:spcPts val="0"/>
              </a:spcAft>
              <a:buSzPts val="1800"/>
              <a:buChar char="●"/>
            </a:pPr>
            <a:r>
              <a:rPr lang="sk"/>
              <a:t>do not forget to run </a:t>
            </a:r>
            <a:r>
              <a:rPr b="1" lang="sk"/>
              <a:t>git push</a:t>
            </a:r>
            <a:endParaRPr b="1"/>
          </a:p>
          <a:p>
            <a:pPr indent="-342900" lvl="0" marL="457200" rtl="0" algn="l">
              <a:spcBef>
                <a:spcPts val="0"/>
              </a:spcBef>
              <a:spcAft>
                <a:spcPts val="0"/>
              </a:spcAft>
              <a:buSzPts val="1800"/>
              <a:buChar char="●"/>
            </a:pPr>
            <a:r>
              <a:rPr lang="sk"/>
              <a:t>use a </a:t>
            </a:r>
            <a:r>
              <a:rPr b="1" lang="sk"/>
              <a:t>.gitignore</a:t>
            </a:r>
            <a:r>
              <a:rPr lang="sk"/>
              <a:t> file to ignore generated files (*.o, *.a, . . . )</a:t>
            </a:r>
            <a:endParaRPr/>
          </a:p>
          <a:p>
            <a:pPr indent="-342900" lvl="0" marL="457200" rtl="0" algn="l">
              <a:spcBef>
                <a:spcPts val="0"/>
              </a:spcBef>
              <a:spcAft>
                <a:spcPts val="0"/>
              </a:spcAft>
              <a:buSzPts val="1800"/>
              <a:buChar char="●"/>
            </a:pPr>
            <a:r>
              <a:rPr lang="sk"/>
              <a:t>don’t be fully desynchronised → run </a:t>
            </a:r>
            <a:r>
              <a:rPr b="1" lang="sk"/>
              <a:t>git pull</a:t>
            </a:r>
            <a:r>
              <a:rPr lang="sk"/>
              <a:t> enough </a:t>
            </a:r>
            <a:r>
              <a:rPr b="1" lang="sk"/>
              <a:t>often</a:t>
            </a:r>
            <a:r>
              <a:rPr lang="sk"/>
              <a:t> to avoid accumulating conflicts</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9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Common trap</a:t>
            </a:r>
            <a:endParaRPr/>
          </a:p>
        </p:txBody>
      </p:sp>
      <p:sp>
        <p:nvSpPr>
          <p:cNvPr id="576" name="Google Shape;576;p94"/>
          <p:cNvSpPr txBox="1"/>
          <p:nvPr>
            <p:ph idx="1" type="body"/>
          </p:nvPr>
        </p:nvSpPr>
        <p:spPr>
          <a:xfrm>
            <a:off x="311700" y="113095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sk"/>
              <a:t>git diff</a:t>
            </a:r>
            <a:r>
              <a:rPr lang="sk"/>
              <a:t> without arguments shows the difference with the index → run </a:t>
            </a:r>
            <a:r>
              <a:rPr b="1" lang="sk"/>
              <a:t>git diff HEAD</a:t>
            </a:r>
            <a:r>
              <a:rPr lang="sk"/>
              <a:t> to show the differences with the last commit</a:t>
            </a:r>
            <a:endParaRPr/>
          </a:p>
          <a:p>
            <a:pPr indent="-342900" lvl="0" marL="457200" rtl="0" algn="l">
              <a:spcBef>
                <a:spcPts val="0"/>
              </a:spcBef>
              <a:spcAft>
                <a:spcPts val="0"/>
              </a:spcAft>
              <a:buSzPts val="1800"/>
              <a:buChar char="●"/>
            </a:pPr>
            <a:r>
              <a:rPr b="1" lang="sk"/>
              <a:t>git reset</a:t>
            </a:r>
            <a:r>
              <a:rPr lang="sk"/>
              <a:t> reverts the index, but keeps the working copy unchanged → do </a:t>
            </a:r>
            <a:r>
              <a:rPr b="1" lang="sk"/>
              <a:t>git reset --hard</a:t>
            </a:r>
            <a:r>
              <a:rPr lang="sk"/>
              <a:t> if you need to revert the working copy too</a:t>
            </a:r>
            <a:endParaRPr/>
          </a:p>
          <a:p>
            <a:pPr indent="-342900" lvl="0" marL="457200" rtl="0" algn="l">
              <a:spcBef>
                <a:spcPts val="0"/>
              </a:spcBef>
              <a:spcAft>
                <a:spcPts val="0"/>
              </a:spcAft>
              <a:buSzPts val="1800"/>
              <a:buChar char="●"/>
            </a:pPr>
            <a:r>
              <a:rPr lang="sk"/>
              <a:t>GIT is not forgiving, do not ignore its warnings and </a:t>
            </a:r>
            <a:r>
              <a:rPr b="1" lang="sk"/>
              <a:t>do not use</a:t>
            </a:r>
            <a:r>
              <a:rPr lang="sk"/>
              <a:t> </a:t>
            </a:r>
            <a:r>
              <a:rPr b="1" lang="sk"/>
              <a:t>--force</a:t>
            </a:r>
            <a:r>
              <a:rPr lang="sk"/>
              <a:t> unless you have a clear idea of what you are doing</a:t>
            </a:r>
            <a:endParaRPr/>
          </a:p>
          <a:p>
            <a:pPr indent="-342900" lvl="0" marL="457200" rtl="0" algn="l">
              <a:spcBef>
                <a:spcPts val="0"/>
              </a:spcBef>
              <a:spcAft>
                <a:spcPts val="0"/>
              </a:spcAft>
              <a:buSzPts val="1800"/>
              <a:buChar char="●"/>
            </a:pPr>
            <a:r>
              <a:rPr lang="sk"/>
              <a:t>GIT’s history is </a:t>
            </a:r>
            <a:r>
              <a:rPr b="1" lang="sk"/>
              <a:t>not immutable</a:t>
            </a:r>
            <a:endParaRPr b="1"/>
          </a:p>
          <a:p>
            <a:pPr indent="-342900" lvl="0" marL="457200" rtl="0" algn="l">
              <a:spcBef>
                <a:spcPts val="0"/>
              </a:spcBef>
              <a:spcAft>
                <a:spcPts val="0"/>
              </a:spcAft>
              <a:buSzPts val="1800"/>
              <a:buChar char="●"/>
            </a:pPr>
            <a:r>
              <a:rPr b="1" lang="sk"/>
              <a:t>git checkout</a:t>
            </a:r>
            <a:r>
              <a:rPr lang="sk"/>
              <a:t> on an arbitrary commit or a tag (anything that is not a branch) puts your in “</a:t>
            </a:r>
            <a:r>
              <a:rPr b="1" lang="sk"/>
              <a:t>detached HEAD</a:t>
            </a:r>
            <a:r>
              <a:rPr lang="sk"/>
              <a:t>” state. You can commit, but your history be lost if you don’t create any branch (or tag) to reference them.</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9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Detached head state</a:t>
            </a:r>
            <a:endParaRPr/>
          </a:p>
        </p:txBody>
      </p:sp>
      <p:sp>
        <p:nvSpPr>
          <p:cNvPr id="582" name="Google Shape;582;p9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83" name="Google Shape;583;p95"/>
          <p:cNvPicPr preferRelativeResize="0"/>
          <p:nvPr/>
        </p:nvPicPr>
        <p:blipFill>
          <a:blip r:embed="rId3">
            <a:alphaModFix/>
          </a:blip>
          <a:stretch>
            <a:fillRect/>
          </a:stretch>
        </p:blipFill>
        <p:spPr>
          <a:xfrm>
            <a:off x="3421258" y="1152473"/>
            <a:ext cx="2301490" cy="3643375"/>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9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Detached head state</a:t>
            </a:r>
            <a:endParaRPr/>
          </a:p>
        </p:txBody>
      </p:sp>
      <p:sp>
        <p:nvSpPr>
          <p:cNvPr id="589" name="Google Shape;589;p9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90" name="Google Shape;590;p96"/>
          <p:cNvPicPr preferRelativeResize="0"/>
          <p:nvPr/>
        </p:nvPicPr>
        <p:blipFill>
          <a:blip r:embed="rId3">
            <a:alphaModFix/>
          </a:blip>
          <a:stretch>
            <a:fillRect/>
          </a:stretch>
        </p:blipFill>
        <p:spPr>
          <a:xfrm>
            <a:off x="965738" y="1152472"/>
            <a:ext cx="7212522" cy="3814825"/>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9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Detached head state</a:t>
            </a:r>
            <a:endParaRPr/>
          </a:p>
        </p:txBody>
      </p:sp>
      <p:sp>
        <p:nvSpPr>
          <p:cNvPr id="596" name="Google Shape;596;p9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97" name="Google Shape;597;p97"/>
          <p:cNvPicPr preferRelativeResize="0"/>
          <p:nvPr/>
        </p:nvPicPr>
        <p:blipFill>
          <a:blip r:embed="rId3">
            <a:alphaModFix/>
          </a:blip>
          <a:stretch>
            <a:fillRect/>
          </a:stretch>
        </p:blipFill>
        <p:spPr>
          <a:xfrm>
            <a:off x="1643995" y="1152473"/>
            <a:ext cx="5856005" cy="374815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9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Detached head state</a:t>
            </a:r>
            <a:endParaRPr/>
          </a:p>
        </p:txBody>
      </p:sp>
      <p:sp>
        <p:nvSpPr>
          <p:cNvPr id="603" name="Google Shape;603;p9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04" name="Google Shape;604;p98"/>
          <p:cNvPicPr preferRelativeResize="0"/>
          <p:nvPr/>
        </p:nvPicPr>
        <p:blipFill>
          <a:blip r:embed="rId3">
            <a:alphaModFix/>
          </a:blip>
          <a:stretch>
            <a:fillRect/>
          </a:stretch>
        </p:blipFill>
        <p:spPr>
          <a:xfrm>
            <a:off x="919790" y="1152473"/>
            <a:ext cx="7304422" cy="372910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9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Detached head state</a:t>
            </a:r>
            <a:endParaRPr/>
          </a:p>
        </p:txBody>
      </p:sp>
      <p:sp>
        <p:nvSpPr>
          <p:cNvPr id="610" name="Google Shape;610;p9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11" name="Google Shape;611;p99"/>
          <p:cNvPicPr preferRelativeResize="0"/>
          <p:nvPr/>
        </p:nvPicPr>
        <p:blipFill>
          <a:blip r:embed="rId3">
            <a:alphaModFix/>
          </a:blip>
          <a:stretch>
            <a:fillRect/>
          </a:stretch>
        </p:blipFill>
        <p:spPr>
          <a:xfrm>
            <a:off x="905613" y="1152474"/>
            <a:ext cx="7332775" cy="3769675"/>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10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a:t>Lab</a:t>
            </a:r>
            <a:endParaRPr/>
          </a:p>
        </p:txBody>
      </p:sp>
      <p:sp>
        <p:nvSpPr>
          <p:cNvPr id="617" name="Google Shape;617;p10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sk" u="sng">
                <a:solidFill>
                  <a:schemeClr val="hlink"/>
                </a:solidFill>
                <a:hlinkClick r:id="rId3"/>
              </a:rPr>
              <a:t>https://console.cloud.google.com/cloudshell/editor?cloudshell_git_repo=https://github.com/praqma-training/git-katas.git</a:t>
            </a:r>
            <a:endParaRPr/>
          </a:p>
          <a:p>
            <a:pPr indent="-308610" lvl="0" marL="457200" rtl="0" algn="l">
              <a:spcBef>
                <a:spcPts val="0"/>
              </a:spcBef>
              <a:spcAft>
                <a:spcPts val="0"/>
              </a:spcAft>
              <a:buSzPct val="100000"/>
              <a:buChar char="●"/>
            </a:pPr>
            <a:r>
              <a:rPr lang="sk"/>
              <a:t>or </a:t>
            </a:r>
            <a:r>
              <a:rPr lang="sk"/>
              <a:t>Clone Repository - </a:t>
            </a:r>
            <a:r>
              <a:rPr lang="sk" u="sng">
                <a:solidFill>
                  <a:schemeClr val="hlink"/>
                </a:solidFill>
                <a:hlinkClick r:id="rId4"/>
              </a:rPr>
              <a:t>https://github.com/eficode-academy/git-katas</a:t>
            </a:r>
            <a:endParaRPr/>
          </a:p>
          <a:p>
            <a:pPr indent="-308610" lvl="0" marL="457200" rtl="0" algn="l">
              <a:spcBef>
                <a:spcPts val="0"/>
              </a:spcBef>
              <a:spcAft>
                <a:spcPts val="0"/>
              </a:spcAft>
              <a:buSzPct val="100000"/>
              <a:buChar char="●"/>
            </a:pPr>
            <a:r>
              <a:rPr lang="sk"/>
              <a:t>Try exercises (cd </a:t>
            </a:r>
            <a:r>
              <a:rPr b="1" lang="sk"/>
              <a:t>bold; </a:t>
            </a:r>
            <a:r>
              <a:rPr lang="sk"/>
              <a:t>cat README.md)</a:t>
            </a:r>
            <a:endParaRPr/>
          </a:p>
          <a:p>
            <a:pPr indent="-290830" lvl="1" marL="914400" rtl="0" algn="l">
              <a:spcBef>
                <a:spcPts val="0"/>
              </a:spcBef>
              <a:spcAft>
                <a:spcPts val="0"/>
              </a:spcAft>
              <a:buSzPct val="100000"/>
              <a:buChar char="○"/>
            </a:pPr>
            <a:r>
              <a:rPr b="1" lang="sk"/>
              <a:t>basic-commits</a:t>
            </a:r>
            <a:r>
              <a:rPr lang="sk"/>
              <a:t> - Very basic creation of commits.</a:t>
            </a:r>
            <a:endParaRPr/>
          </a:p>
          <a:p>
            <a:pPr indent="-290830" lvl="1" marL="914400" rtl="0" algn="l">
              <a:spcBef>
                <a:spcPts val="0"/>
              </a:spcBef>
              <a:spcAft>
                <a:spcPts val="0"/>
              </a:spcAft>
              <a:buSzPct val="100000"/>
              <a:buChar char="○"/>
            </a:pPr>
            <a:r>
              <a:rPr b="1" lang="sk"/>
              <a:t>basic-staging</a:t>
            </a:r>
            <a:r>
              <a:rPr lang="sk"/>
              <a:t> - Interacting with the stage (index).</a:t>
            </a:r>
            <a:endParaRPr/>
          </a:p>
          <a:p>
            <a:pPr indent="-290830" lvl="1" marL="914400" rtl="0" algn="l">
              <a:spcBef>
                <a:spcPts val="0"/>
              </a:spcBef>
              <a:spcAft>
                <a:spcPts val="0"/>
              </a:spcAft>
              <a:buSzPct val="100000"/>
              <a:buChar char="○"/>
            </a:pPr>
            <a:r>
              <a:rPr b="1" lang="sk"/>
              <a:t>basic-branching</a:t>
            </a:r>
            <a:r>
              <a:rPr lang="sk"/>
              <a:t> - The first stride into branching.</a:t>
            </a:r>
            <a:endParaRPr/>
          </a:p>
          <a:p>
            <a:pPr indent="-290830" lvl="1" marL="914400" rtl="0" algn="l">
              <a:spcBef>
                <a:spcPts val="0"/>
              </a:spcBef>
              <a:spcAft>
                <a:spcPts val="0"/>
              </a:spcAft>
              <a:buSzPct val="100000"/>
              <a:buChar char="○"/>
            </a:pPr>
            <a:r>
              <a:rPr b="1" lang="sk"/>
              <a:t>ff-merge</a:t>
            </a:r>
            <a:r>
              <a:rPr lang="sk"/>
              <a:t> - A tour around the most trivial of merges.</a:t>
            </a:r>
            <a:endParaRPr/>
          </a:p>
          <a:p>
            <a:pPr indent="-290830" lvl="1" marL="914400" rtl="0" algn="l">
              <a:spcBef>
                <a:spcPts val="0"/>
              </a:spcBef>
              <a:spcAft>
                <a:spcPts val="0"/>
              </a:spcAft>
              <a:buSzPct val="100000"/>
              <a:buChar char="○"/>
            </a:pPr>
            <a:r>
              <a:rPr b="1" lang="sk"/>
              <a:t>3-way-merge</a:t>
            </a:r>
            <a:r>
              <a:rPr lang="sk"/>
              <a:t> - A basic merge, involving multiple diverged branches.</a:t>
            </a:r>
            <a:endParaRPr/>
          </a:p>
          <a:p>
            <a:pPr indent="-290830" lvl="1" marL="914400" rtl="0" algn="l">
              <a:spcBef>
                <a:spcPts val="0"/>
              </a:spcBef>
              <a:spcAft>
                <a:spcPts val="0"/>
              </a:spcAft>
              <a:buSzPct val="100000"/>
              <a:buChar char="○"/>
            </a:pPr>
            <a:r>
              <a:rPr b="1" lang="sk"/>
              <a:t>basic-revert</a:t>
            </a:r>
            <a:r>
              <a:rPr lang="sk"/>
              <a:t> - Use revert to revert a change</a:t>
            </a:r>
            <a:endParaRPr/>
          </a:p>
          <a:p>
            <a:pPr indent="-290830" lvl="1" marL="914400" rtl="0" algn="l">
              <a:spcBef>
                <a:spcPts val="0"/>
              </a:spcBef>
              <a:spcAft>
                <a:spcPts val="0"/>
              </a:spcAft>
              <a:buSzPct val="100000"/>
              <a:buChar char="○"/>
            </a:pPr>
            <a:r>
              <a:rPr b="1" lang="sk"/>
              <a:t>reset</a:t>
            </a:r>
            <a:r>
              <a:rPr lang="sk"/>
              <a:t> - Reset is a powerful and slightly dangerous command if you do not know what you are doing. Go through the three modes of resetting here.</a:t>
            </a:r>
            <a:endParaRPr/>
          </a:p>
          <a:p>
            <a:pPr indent="-290830" lvl="1" marL="914400" rtl="0" algn="l">
              <a:spcBef>
                <a:spcPts val="0"/>
              </a:spcBef>
              <a:spcAft>
                <a:spcPts val="0"/>
              </a:spcAft>
              <a:buSzPct val="100000"/>
              <a:buChar char="○"/>
            </a:pPr>
            <a:r>
              <a:rPr b="1" lang="sk"/>
              <a:t>basic-cleaning</a:t>
            </a:r>
            <a:r>
              <a:rPr lang="sk"/>
              <a:t> - Cleaning the workspace.</a:t>
            </a:r>
            <a:endParaRPr/>
          </a:p>
          <a:p>
            <a:pPr indent="-290830" lvl="1" marL="914400" rtl="0" algn="l">
              <a:spcBef>
                <a:spcPts val="0"/>
              </a:spcBef>
              <a:spcAft>
                <a:spcPts val="0"/>
              </a:spcAft>
              <a:buSzPct val="100000"/>
              <a:buChar char="○"/>
            </a:pPr>
            <a:r>
              <a:rPr b="1" lang="sk"/>
              <a:t>amend</a:t>
            </a:r>
            <a:r>
              <a:rPr lang="sk"/>
              <a:t> - Amending previous commits.</a:t>
            </a:r>
            <a:endParaRPr/>
          </a:p>
          <a:p>
            <a:pPr indent="-290830" lvl="1" marL="914400" rtl="0" algn="l">
              <a:spcBef>
                <a:spcPts val="0"/>
              </a:spcBef>
              <a:spcAft>
                <a:spcPts val="0"/>
              </a:spcAft>
              <a:buSzPct val="100000"/>
              <a:buChar char="○"/>
            </a:pPr>
            <a:r>
              <a:rPr b="1" lang="sk"/>
              <a:t>basic-stashing</a:t>
            </a:r>
            <a:r>
              <a:rPr lang="sk"/>
              <a:t> - The first stride into stashing.</a:t>
            </a:r>
            <a:endParaRPr/>
          </a:p>
          <a:p>
            <a:pPr indent="-290830" lvl="1" marL="914400" rtl="0" algn="l">
              <a:spcBef>
                <a:spcPts val="0"/>
              </a:spcBef>
              <a:spcAft>
                <a:spcPts val="0"/>
              </a:spcAft>
              <a:buSzPct val="100000"/>
              <a:buChar char="○"/>
            </a:pPr>
            <a:r>
              <a:rPr b="1" lang="sk"/>
              <a:t>ignore</a:t>
            </a:r>
            <a:r>
              <a:rPr lang="sk"/>
              <a:t> - The basics of using the .gitignore file. And using git rm.</a:t>
            </a:r>
            <a:endParaRPr/>
          </a:p>
          <a:p>
            <a:pPr indent="-290830" lvl="1" marL="914400" rtl="0" algn="l">
              <a:spcBef>
                <a:spcPts val="0"/>
              </a:spcBef>
              <a:spcAft>
                <a:spcPts val="0"/>
              </a:spcAft>
              <a:buSzPct val="100000"/>
              <a:buChar char="○"/>
            </a:pPr>
            <a:r>
              <a:rPr b="1" lang="sk"/>
              <a:t>git-tag</a:t>
            </a:r>
            <a:r>
              <a:rPr lang="sk"/>
              <a:t> - Tags are convenient for keeping track of commits that bump a version number. In this exercise, you will list, add and delete tags.</a:t>
            </a:r>
            <a:endParaRPr/>
          </a:p>
          <a:p>
            <a:pPr indent="-308610" lvl="0" marL="457200" rtl="0" algn="l">
              <a:spcBef>
                <a:spcPts val="0"/>
              </a:spcBef>
              <a:spcAft>
                <a:spcPts val="0"/>
              </a:spcAft>
              <a:buSzPct val="100000"/>
              <a:buChar char="●"/>
            </a:pPr>
            <a:r>
              <a:rPr lang="sk" u="sng">
                <a:solidFill>
                  <a:schemeClr val="hlink"/>
                </a:solidFill>
                <a:hlinkClick r:id="rId5"/>
              </a:rPr>
              <a:t>https://www.w3schools.com/git/exercise.asp</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